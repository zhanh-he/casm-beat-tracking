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9929a8c4648d1" /><Relationship Type="http://schemas.openxmlformats.org/officeDocument/2006/relationships/extended-properties" Target="/docProps/app.xml" Id="Rbfd2ffaf81174e50" /><Relationship Type="http://schemas.openxmlformats.org/officeDocument/2006/relationships/officeDocument" Target="/ppt/presentation.xml" Id="R3405725dd13140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7b4349d2c146e0"/>
  </p:sldMasterIdLst>
  <p:notesMasterIdLst>
    <p:notesMasterId xmlns:r="http://schemas.openxmlformats.org/officeDocument/2006/relationships" r:id="R97c02b272c0d4f0f"/>
  </p:notesMasterIdLst>
  <p:sldIdLst>
    <p:sldId xmlns:r="http://schemas.openxmlformats.org/officeDocument/2006/relationships" id="256" r:id="R303fe0fac0944cac"/>
  </p:sldIdLst>
  <p:sldSz cx="17145000" cy="666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54943731a34422" /><Relationship Type="http://schemas.openxmlformats.org/officeDocument/2006/relationships/slideMaster" Target="/ppt/slideMasters/slideMaster1.xml" Id="R967b4349d2c146e0" /><Relationship Type="http://schemas.openxmlformats.org/officeDocument/2006/relationships/notesMaster" Target="/ppt/notesMasters/notesMaster1.xml" Id="R97c02b272c0d4f0f" /><Relationship Type="http://schemas.openxmlformats.org/officeDocument/2006/relationships/presProps" Target="/ppt/presProps.xml" Id="R007032a65208422f" /><Relationship Type="http://schemas.openxmlformats.org/officeDocument/2006/relationships/tableStyles" Target="/ppt/tableStyles.xml" Id="R027fafb7db5148a1" /><Relationship Type="http://schemas.openxmlformats.org/officeDocument/2006/relationships/slide" Target="/ppt/slides/slide1.xml" Id="R303fe0fac094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a998ae115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1efd83cb34ac0" /><Relationship Type="http://schemas.openxmlformats.org/officeDocument/2006/relationships/notesMaster" Target="/ppt/notesMasters/notesMaster1.xml" Id="R97384174ec1f43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 B: compact two-row pipeline. Source: /Users/hanyu/Downloads/p1.pptx and /Users/hanyu/Downloads/p1.jpg. Original spectrogram, waveform, activation paths and event positions reused. PLPDP and CRF added at the user's request. Their gray fill is intentional; no explanatory legend appears on the slide. Other processor boxes are white. Backbone parameter counts and frontend frequencies are transcribed from the supplied figure. No configuration total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c4152eab54f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872abf8a942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97ac9685b4f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ddba44f934d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382d7360643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2936257d7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A3172B-30D3-4145-8A9A-E0028E58F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2518833"/>
            <a:ext cx="13716000" cy="963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BC2677-86DA-4F9B-AA46-25E349665E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3667125"/>
            <a:ext cx="12001500" cy="74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C7EBD2-A513-49B5-8D8C-B97326FB7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2778125"/>
            <a:ext cx="13716000" cy="111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705F31-9A65-4CAE-91DE-19135C506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518583"/>
            <a:ext cx="15216188" cy="814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89EEA9-A091-4A69-A083-F46123B2C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1852083"/>
            <a:ext cx="15216188" cy="414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2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1pPr>
            <a:lvl2pPr marL="518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2pPr>
            <a:lvl3pPr marL="814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3pPr>
            <a:lvl4pPr marL="1111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4pPr>
            <a:lvl5pPr marL="1407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5pPr>
            <a:lvl6pPr marL="1703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6pPr>
            <a:lvl7pPr marL="2000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7pPr>
            <a:lvl8pPr marL="2296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8pPr>
            <a:lvl9pPr marL="2592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098C8D-0F39-4224-BE63-B38DA485E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518583"/>
            <a:ext cx="15216188" cy="814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08962D-7013-46E8-9129-E783CAB237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1852083"/>
            <a:ext cx="7072313" cy="414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2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1pPr>
            <a:lvl2pPr marL="518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2pPr>
            <a:lvl3pPr marL="814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3pPr>
            <a:lvl4pPr marL="1111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4pPr>
            <a:lvl5pPr marL="1407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5pPr>
            <a:lvl6pPr marL="1703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6pPr>
            <a:lvl7pPr marL="2000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7pPr>
            <a:lvl8pPr marL="2296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8pPr>
            <a:lvl9pPr marL="2592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175C20-FE24-48FB-AFF0-DFE0E975C1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1852083"/>
            <a:ext cx="7072313" cy="414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2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1pPr>
            <a:lvl2pPr marL="518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2pPr>
            <a:lvl3pPr marL="814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3pPr>
            <a:lvl4pPr marL="1111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4pPr>
            <a:lvl5pPr marL="1407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5pPr>
            <a:lvl6pPr marL="1703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6pPr>
            <a:lvl7pPr marL="2000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7pPr>
            <a:lvl8pPr marL="2296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8pPr>
            <a:lvl9pPr marL="2592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1DDCCF-7E3B-405A-A018-787C27532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518583"/>
            <a:ext cx="15216188" cy="814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43B297-7EA0-4561-AD51-5BC95C36E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1852083"/>
            <a:ext cx="7072313" cy="414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2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1pPr>
            <a:lvl2pPr marL="518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2pPr>
            <a:lvl3pPr marL="814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3pPr>
            <a:lvl4pPr marL="1111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4pPr>
            <a:lvl5pPr marL="1407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5pPr>
            <a:lvl6pPr marL="1703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6pPr>
            <a:lvl7pPr marL="2000250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7pPr>
            <a:lvl8pPr marL="2296583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8pPr>
            <a:lvl9pPr marL="2592917" indent="-222250">
              <a:lnSpc>
                <a:spcPct val="110000"/>
              </a:lnSpc>
              <a:spcBef>
                <a:spcPts val="0"/>
              </a:spcBef>
              <a:spcAft>
                <a:spcPts val="11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afbfcaf91c44b4" /><Relationship Type="http://schemas.openxmlformats.org/officeDocument/2006/relationships/slideLayout" Target="/ppt/slideLayouts/slideLayout1.xml" Id="R0a3c449028fe4342" /><Relationship Type="http://schemas.openxmlformats.org/officeDocument/2006/relationships/slideLayout" Target="/ppt/slideLayouts/slideLayout2.xml" Id="R41f5f102cbcc4ed8" /><Relationship Type="http://schemas.openxmlformats.org/officeDocument/2006/relationships/slideLayout" Target="/ppt/slideLayouts/slideLayout3.xml" Id="Rae2f2adbde994870" /><Relationship Type="http://schemas.openxmlformats.org/officeDocument/2006/relationships/slideLayout" Target="/ppt/slideLayouts/slideLayout4.xml" Id="R0cde4681da0a4219" /><Relationship Type="http://schemas.openxmlformats.org/officeDocument/2006/relationships/slideLayout" Target="/ppt/slideLayouts/slideLayout5.xml" Id="R1f17b85055064da1" /><Relationship Type="http://schemas.openxmlformats.org/officeDocument/2006/relationships/slideLayout" Target="/ppt/slideLayouts/slideLayout6.xml" Id="Rd595698d5468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c449028fe4342"/>
    <p:sldLayoutId xmlns:r="http://schemas.openxmlformats.org/officeDocument/2006/relationships" id="2147483650" r:id="R41f5f102cbcc4ed8"/>
    <p:sldLayoutId xmlns:r="http://schemas.openxmlformats.org/officeDocument/2006/relationships" id="2147483651" r:id="Rae2f2adbde994870"/>
    <p:sldLayoutId xmlns:r="http://schemas.openxmlformats.org/officeDocument/2006/relationships" id="2147483652" r:id="R0cde4681da0a4219"/>
    <p:sldLayoutId xmlns:r="http://schemas.openxmlformats.org/officeDocument/2006/relationships" id="2147483653" r:id="R1f17b85055064da1"/>
    <p:sldLayoutId xmlns:r="http://schemas.openxmlformats.org/officeDocument/2006/relationships" id="2147483654" r:id="Rd595698d5468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a642cfcef47d9" /><Relationship Type="http://schemas.openxmlformats.org/officeDocument/2006/relationships/image" Target="/ppt/media/image.png" Id="Rb0fdf9fd08d0466d" /><Relationship Type="http://schemas.openxmlformats.org/officeDocument/2006/relationships/image" Target="/ppt/media/image2.png" Id="R55291f8b829c4f25" /><Relationship Type="http://schemas.openxmlformats.org/officeDocument/2006/relationships/notesSlide" Target="/ppt/notesSlides/notesSlide1.xml" Id="R4f6a562d49e5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label-1">
            <a:extLst xmlns:a="http://schemas.openxmlformats.org/drawingml/2006/main">
              <a:ext uri="{FF2B5EF4-FFF2-40B4-BE49-F238E27FC236}">
                <a16:creationId xmlns:a16="http://schemas.microsoft.com/office/drawing/2014/main" id="{54D7BB61-9292-4D39-BF52-277C7B3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Audio (WAV)</a:t>
            </a:r>
          </a:p>
        </p:txBody>
      </p:sp>
      <p:sp>
        <p:nvSpPr>
          <p:cNvPr id="2" name="audio-2">
            <a:extLst xmlns:a="http://schemas.openxmlformats.org/drawingml/2006/main">
              <a:ext uri="{FF2B5EF4-FFF2-40B4-BE49-F238E27FC236}">
                <a16:creationId xmlns:a16="http://schemas.microsoft.com/office/drawing/2014/main" id="{1F5E515B-F4C7-4A1C-AE1C-5AA07570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1952625" cy="1762125"/>
          </a:xfrm>
          <a:prstGeom xmlns:a="http://schemas.openxmlformats.org/drawingml/2006/main" prst="roundRect">
            <a:avLst>
              <a:gd name="adj" fmla="val 7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A216B-E042-42C6-8297-F6FF09C2D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df9fd08d0466d"/>
          <a:srcRect xmlns:a="http://schemas.openxmlformats.org/drawingml/2006/main" l="2808" t="30525" r="2808" b="8011"/>
          <a:stretch xmlns:a="http://schemas.openxmlformats.org/drawingml/2006/main"/>
        </p:blipFill>
        <p:spPr>
          <a:xfrm xmlns:a="http://schemas.openxmlformats.org/drawingml/2006/main">
            <a:off x="552450" y="1095375"/>
            <a:ext cx="1609725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label-3">
            <a:extLst xmlns:a="http://schemas.openxmlformats.org/drawingml/2006/main">
              <a:ext uri="{FF2B5EF4-FFF2-40B4-BE49-F238E27FC236}">
                <a16:creationId xmlns:a16="http://schemas.microsoft.com/office/drawing/2014/main" id="{A005E304-C1C6-4283-B95C-B9614AD7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log-Mel spectrogram</a:t>
            </a:r>
          </a:p>
        </p:txBody>
      </p:sp>
      <p:sp>
        <p:nvSpPr>
          <p:cNvPr id="5" name="frontend-4">
            <a:extLst xmlns:a="http://schemas.openxmlformats.org/drawingml/2006/main">
              <a:ext uri="{FF2B5EF4-FFF2-40B4-BE49-F238E27FC236}">
                <a16:creationId xmlns:a16="http://schemas.microsoft.com/office/drawing/2014/main" id="{70A4A4C3-8CD3-42A2-A54E-2B9DBC39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62000"/>
            <a:ext cx="2876550" cy="1762125"/>
          </a:xfrm>
          <a:prstGeom xmlns:a="http://schemas.openxmlformats.org/drawingml/2006/main" prst="roundRect">
            <a:avLst>
              <a:gd name="adj" fmla="val 7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D934F-EDD0-46E5-A51E-203C85F74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91f8b829c4f25"/>
          <a:stretch xmlns:a="http://schemas.openxmlformats.org/drawingml/2006/main"/>
        </p:blipFill>
        <p:spPr>
          <a:xfrm xmlns:a="http://schemas.openxmlformats.org/drawingml/2006/main">
            <a:off x="3105150" y="933768"/>
            <a:ext cx="2476500" cy="1056640"/>
          </a:xfrm>
          <a:prstGeom xmlns:a="http://schemas.openxmlformats.org/drawingml/2006/main" prst="rect">
            <a:avLst/>
          </a:prstGeom>
        </p:spPr>
      </p:pic>
      <p:sp>
        <p:nvSpPr>
          <p:cNvPr id="7" name="label-5">
            <a:extLst xmlns:a="http://schemas.openxmlformats.org/drawingml/2006/main">
              <a:ext uri="{FF2B5EF4-FFF2-40B4-BE49-F238E27FC236}">
                <a16:creationId xmlns:a16="http://schemas.microsoft.com/office/drawing/2014/main" id="{09ABBA5E-56A1-487D-BFDE-45248A6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22.05 kHz / 50 Hz</a:t>
            </a:r>
          </a:p>
        </p:txBody>
      </p:sp>
      <p:sp>
        <p:nvSpPr>
          <p:cNvPr id="8" name="label-6">
            <a:extLst xmlns:a="http://schemas.openxmlformats.org/drawingml/2006/main">
              <a:ext uri="{FF2B5EF4-FFF2-40B4-BE49-F238E27FC236}">
                <a16:creationId xmlns:a16="http://schemas.microsoft.com/office/drawing/2014/main" id="{B5BCB8CF-3163-4FF3-B3FE-7A3ECA39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8600"/>
            <a:ext cx="10372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Backbone: choose one</a:t>
            </a:r>
          </a:p>
        </p:txBody>
      </p:sp>
      <p:sp>
        <p:nvSpPr>
          <p:cNvPr id="9" name="backbone-group-7">
            <a:extLst xmlns:a="http://schemas.openxmlformats.org/drawingml/2006/main">
              <a:ext uri="{FF2B5EF4-FFF2-40B4-BE49-F238E27FC236}">
                <a16:creationId xmlns:a16="http://schemas.microsoft.com/office/drawing/2014/main" id="{581F2B10-13F7-4B31-9A74-303CD54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62000"/>
            <a:ext cx="10372725" cy="1762125"/>
          </a:xfrm>
          <a:prstGeom xmlns:a="http://schemas.openxmlformats.org/drawingml/2006/main" prst="roundRect">
            <a:avLst>
              <a:gd name="adj" fmla="val 702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2860">
            <a:solidFill>
              <a:srgbClr val="A8B6C4"/>
            </a:solidFill>
            <a:prstDash val="dash"/>
          </a:ln>
        </p:spPr>
      </p:sp>
      <p:sp>
        <p:nvSpPr>
          <p:cNvPr id="10" name="backbone-BeatThis-8">
            <a:extLst xmlns:a="http://schemas.openxmlformats.org/drawingml/2006/main">
              <a:ext uri="{FF2B5EF4-FFF2-40B4-BE49-F238E27FC236}">
                <a16:creationId xmlns:a16="http://schemas.microsoft.com/office/drawing/2014/main" id="{9D637851-D1B0-460C-A13A-A234363B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009650"/>
            <a:ext cx="3152775" cy="12573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2659A"/>
            </a:solidFill>
            <a:prstDash val="solid"/>
          </a:ln>
        </p:spPr>
      </p:sp>
      <p:sp>
        <p:nvSpPr>
          <p:cNvPr id="11" name="label-9">
            <a:extLst xmlns:a="http://schemas.openxmlformats.org/drawingml/2006/main">
              <a:ext uri="{FF2B5EF4-FFF2-40B4-BE49-F238E27FC236}">
                <a16:creationId xmlns:a16="http://schemas.microsoft.com/office/drawing/2014/main" id="{C3111AD2-B1D8-4D0E-B0B3-43271DC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16205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BeatThis</a:t>
            </a:r>
          </a:p>
        </p:txBody>
      </p:sp>
      <p:sp>
        <p:nvSpPr>
          <p:cNvPr id="12" name="label-10">
            <a:extLst xmlns:a="http://schemas.openxmlformats.org/drawingml/2006/main">
              <a:ext uri="{FF2B5EF4-FFF2-40B4-BE49-F238E27FC236}">
                <a16:creationId xmlns:a16="http://schemas.microsoft.com/office/drawing/2014/main" id="{A8B5CE72-544D-40C5-ADB9-97DCF27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6287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params: 20.25M</a:t>
            </a:r>
          </a:p>
        </p:txBody>
      </p:sp>
      <p:sp>
        <p:nvSpPr>
          <p:cNvPr id="13" name="backbone-MSCNN-11">
            <a:extLst xmlns:a="http://schemas.openxmlformats.org/drawingml/2006/main">
              <a:ext uri="{FF2B5EF4-FFF2-40B4-BE49-F238E27FC236}">
                <a16:creationId xmlns:a16="http://schemas.microsoft.com/office/drawing/2014/main" id="{06080788-2458-4C6F-96EB-3E4A135A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009650"/>
            <a:ext cx="3152775" cy="12573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2659A"/>
            </a:solidFill>
            <a:prstDash val="solid"/>
          </a:ln>
        </p:spPr>
      </p:sp>
      <p:sp>
        <p:nvSpPr>
          <p:cNvPr id="14" name="label-12">
            <a:extLst xmlns:a="http://schemas.openxmlformats.org/drawingml/2006/main">
              <a:ext uri="{FF2B5EF4-FFF2-40B4-BE49-F238E27FC236}">
                <a16:creationId xmlns:a16="http://schemas.microsoft.com/office/drawing/2014/main" id="{A8529593-0C0E-4362-A43A-CB3C1402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16205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MSCNN</a:t>
            </a:r>
          </a:p>
        </p:txBody>
      </p:sp>
      <p:sp>
        <p:nvSpPr>
          <p:cNvPr id="15" name="label-13">
            <a:extLst xmlns:a="http://schemas.openxmlformats.org/drawingml/2006/main">
              <a:ext uri="{FF2B5EF4-FFF2-40B4-BE49-F238E27FC236}">
                <a16:creationId xmlns:a16="http://schemas.microsoft.com/office/drawing/2014/main" id="{77E892E7-02CF-4B91-8831-E02AEED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287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params: 1.27M</a:t>
            </a:r>
          </a:p>
        </p:txBody>
      </p:sp>
      <p:sp>
        <p:nvSpPr>
          <p:cNvPr id="16" name="backbone-TCN-14">
            <a:extLst xmlns:a="http://schemas.openxmlformats.org/drawingml/2006/main">
              <a:ext uri="{FF2B5EF4-FFF2-40B4-BE49-F238E27FC236}">
                <a16:creationId xmlns:a16="http://schemas.microsoft.com/office/drawing/2014/main" id="{53AC17A1-1F4C-45DD-B97A-EC22E9D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1009650"/>
            <a:ext cx="3152775" cy="12573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2659A"/>
            </a:solidFill>
            <a:prstDash val="solid"/>
          </a:ln>
        </p:spPr>
      </p:sp>
      <p:sp>
        <p:nvSpPr>
          <p:cNvPr id="17" name="label-15">
            <a:extLst xmlns:a="http://schemas.openxmlformats.org/drawingml/2006/main">
              <a:ext uri="{FF2B5EF4-FFF2-40B4-BE49-F238E27FC236}">
                <a16:creationId xmlns:a16="http://schemas.microsoft.com/office/drawing/2014/main" id="{42D26CEF-1730-44E8-889B-0959E5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16205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TCN</a:t>
            </a:r>
          </a:p>
        </p:txBody>
      </p:sp>
      <p:sp>
        <p:nvSpPr>
          <p:cNvPr id="18" name="label-16">
            <a:extLst xmlns:a="http://schemas.openxmlformats.org/drawingml/2006/main">
              <a:ext uri="{FF2B5EF4-FFF2-40B4-BE49-F238E27FC236}">
                <a16:creationId xmlns:a16="http://schemas.microsoft.com/office/drawing/2014/main" id="{6802385C-8060-4F9E-A4F7-89FF5A4C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6287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params: 0.07M</a:t>
            </a:r>
          </a:p>
        </p:txBody>
      </p:sp>
      <p:sp>
        <p:nvSpPr>
          <p:cNvPr id="19" name="line-17">
            <a:extLst xmlns:a="http://schemas.openxmlformats.org/drawingml/2006/main">
              <a:ext uri="{FF2B5EF4-FFF2-40B4-BE49-F238E27FC236}">
                <a16:creationId xmlns:a16="http://schemas.microsoft.com/office/drawing/2014/main" id="{3F6007C5-4BBD-4FC2-A786-25CA809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47825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0" name="line-18">
            <a:extLst xmlns:a="http://schemas.openxmlformats.org/drawingml/2006/main">
              <a:ext uri="{FF2B5EF4-FFF2-40B4-BE49-F238E27FC236}">
                <a16:creationId xmlns:a16="http://schemas.microsoft.com/office/drawing/2014/main" id="{1C3FD544-31E6-4FE2-8274-1E0FFAC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590675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1" name="line-19">
            <a:extLst xmlns:a="http://schemas.openxmlformats.org/drawingml/2006/main">
              <a:ext uri="{FF2B5EF4-FFF2-40B4-BE49-F238E27FC236}">
                <a16:creationId xmlns:a16="http://schemas.microsoft.com/office/drawing/2014/main" id="{80979807-E373-4F24-9AD2-2D7585F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647825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2" name="line-20">
            <a:extLst xmlns:a="http://schemas.openxmlformats.org/drawingml/2006/main">
              <a:ext uri="{FF2B5EF4-FFF2-40B4-BE49-F238E27FC236}">
                <a16:creationId xmlns:a16="http://schemas.microsoft.com/office/drawing/2014/main" id="{9FE149A6-C44B-4BDA-87BC-D608AF8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47825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3" name="line-21">
            <a:extLst xmlns:a="http://schemas.openxmlformats.org/drawingml/2006/main">
              <a:ext uri="{FF2B5EF4-FFF2-40B4-BE49-F238E27FC236}">
                <a16:creationId xmlns:a16="http://schemas.microsoft.com/office/drawing/2014/main" id="{D7B65023-FB79-4EEF-BD6D-EAE3392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90675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4" name="line-22">
            <a:extLst xmlns:a="http://schemas.openxmlformats.org/drawingml/2006/main">
              <a:ext uri="{FF2B5EF4-FFF2-40B4-BE49-F238E27FC236}">
                <a16:creationId xmlns:a16="http://schemas.microsoft.com/office/drawing/2014/main" id="{8FFC5503-4AF7-48C4-896C-1132DF70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47825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5" name="line-23">
            <a:extLst xmlns:a="http://schemas.openxmlformats.org/drawingml/2006/main">
              <a:ext uri="{FF2B5EF4-FFF2-40B4-BE49-F238E27FC236}">
                <a16:creationId xmlns:a16="http://schemas.microsoft.com/office/drawing/2014/main" id="{F5A36203-80EF-4889-A739-48FB73E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581275"/>
            <a:ext cx="95" cy="352425"/>
          </a:xfrm>
          <a:custGeom xmlns:a="http://schemas.openxmlformats.org/drawingml/2006/main"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6" name="line-24">
            <a:extLst xmlns:a="http://schemas.openxmlformats.org/drawingml/2006/main">
              <a:ext uri="{FF2B5EF4-FFF2-40B4-BE49-F238E27FC236}">
                <a16:creationId xmlns:a16="http://schemas.microsoft.com/office/drawing/2014/main" id="{02D3C38E-7786-4512-A54C-187BAB3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9210675" cy="95"/>
          </a:xfrm>
          <a:custGeom xmlns:a="http://schemas.openxmlformats.org/drawingml/2006/main">
            <a:pathLst>
              <a:path w="9210675" h="95">
                <a:moveTo>
                  <a:pt x="9210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7" name="line-25">
            <a:extLst xmlns:a="http://schemas.openxmlformats.org/drawingml/2006/main">
              <a:ext uri="{FF2B5EF4-FFF2-40B4-BE49-F238E27FC236}">
                <a16:creationId xmlns:a16="http://schemas.microsoft.com/office/drawing/2014/main" id="{D6FE08D3-4322-4646-8E7C-65A5041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95" cy="542925"/>
          </a:xfrm>
          <a:custGeom xmlns:a="http://schemas.openxmlformats.org/drawingml/2006/main">
            <a:pathLst>
              <a:path w="95" h="542925">
                <a:moveTo>
                  <a:pt x="0" y="0"/>
                </a:move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8" name="line-26">
            <a:extLst xmlns:a="http://schemas.openxmlformats.org/drawingml/2006/main">
              <a:ext uri="{FF2B5EF4-FFF2-40B4-BE49-F238E27FC236}">
                <a16:creationId xmlns:a16="http://schemas.microsoft.com/office/drawing/2014/main" id="{8D0AABD2-989D-4FD6-9AC7-4A91C12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71850"/>
            <a:ext cx="57150" cy="104775"/>
          </a:xfrm>
          <a:custGeom xmlns:a="http://schemas.openxmlformats.org/drawingml/2006/main">
            <a:pathLst>
              <a:path w="57150" h="104775">
                <a:moveTo>
                  <a:pt x="0" y="1047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29" name="line-27">
            <a:extLst xmlns:a="http://schemas.openxmlformats.org/drawingml/2006/main">
              <a:ext uri="{FF2B5EF4-FFF2-40B4-BE49-F238E27FC236}">
                <a16:creationId xmlns:a16="http://schemas.microsoft.com/office/drawing/2014/main" id="{72995600-48D9-492D-B1DE-07986E8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57150" cy="104775"/>
          </a:xfrm>
          <a:custGeom xmlns:a="http://schemas.openxmlformats.org/drawingml/2006/main">
            <a:pathLst>
              <a:path w="57150" h="104775">
                <a:moveTo>
                  <a:pt x="57150" y="104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30" name="label-28">
            <a:extLst xmlns:a="http://schemas.openxmlformats.org/drawingml/2006/main">
              <a:ext uri="{FF2B5EF4-FFF2-40B4-BE49-F238E27FC236}">
                <a16:creationId xmlns:a16="http://schemas.microsoft.com/office/drawing/2014/main" id="{B081D8F9-F4E5-493F-85F8-C2BD545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5675"/>
            <a:ext cx="425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Beat / downbeat activations (50 Hz)</a:t>
            </a:r>
          </a:p>
        </p:txBody>
      </p:sp>
      <p:sp>
        <p:nvSpPr>
          <p:cNvPr id="31" name="label-29">
            <a:extLst xmlns:a="http://schemas.openxmlformats.org/drawingml/2006/main">
              <a:ext uri="{FF2B5EF4-FFF2-40B4-BE49-F238E27FC236}">
                <a16:creationId xmlns:a16="http://schemas.microsoft.com/office/drawing/2014/main" id="{8DAB2D6F-E535-43B4-A9D3-D81AC24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425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beat</a:t>
            </a:r>
          </a:p>
        </p:txBody>
      </p:sp>
      <p:sp>
        <p:nvSpPr>
          <p:cNvPr id="32" name="real_beat_probability_49">
            <a:extLst xmlns:a="http://schemas.openxmlformats.org/drawingml/2006/main">
              <a:ext uri="{FF2B5EF4-FFF2-40B4-BE49-F238E27FC236}">
                <a16:creationId xmlns:a16="http://schemas.microsoft.com/office/drawing/2014/main" id="{68220DF2-BFBF-437A-B70B-AB7FF0D1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57700"/>
            <a:ext cx="4257675" cy="414338"/>
          </a:xfrm>
          <a:custGeom xmlns:a="http://schemas.openxmlformats.org/drawingml/2006/main">
            <a:pathLst>
              <a:path w="4257675" h="414338">
                <a:moveTo>
                  <a:pt x="0" y="414289"/>
                </a:moveTo>
                <a:lnTo>
                  <a:pt x="14239" y="414313"/>
                </a:lnTo>
                <a:lnTo>
                  <a:pt x="28480" y="414293"/>
                </a:lnTo>
                <a:lnTo>
                  <a:pt x="42719" y="414207"/>
                </a:lnTo>
                <a:lnTo>
                  <a:pt x="56960" y="414227"/>
                </a:lnTo>
                <a:lnTo>
                  <a:pt x="71198" y="414268"/>
                </a:lnTo>
                <a:lnTo>
                  <a:pt x="85437" y="414289"/>
                </a:lnTo>
                <a:lnTo>
                  <a:pt x="99678" y="414293"/>
                </a:lnTo>
                <a:lnTo>
                  <a:pt x="113917" y="414272"/>
                </a:lnTo>
                <a:lnTo>
                  <a:pt x="128158" y="414244"/>
                </a:lnTo>
                <a:lnTo>
                  <a:pt x="142397" y="414276"/>
                </a:lnTo>
                <a:lnTo>
                  <a:pt x="156638" y="414154"/>
                </a:lnTo>
                <a:lnTo>
                  <a:pt x="170877" y="411463"/>
                </a:lnTo>
                <a:lnTo>
                  <a:pt x="185116" y="385209"/>
                </a:lnTo>
                <a:lnTo>
                  <a:pt x="199357" y="284786"/>
                </a:lnTo>
                <a:lnTo>
                  <a:pt x="213595" y="0"/>
                </a:lnTo>
                <a:lnTo>
                  <a:pt x="227836" y="294994"/>
                </a:lnTo>
                <a:lnTo>
                  <a:pt x="242075" y="409034"/>
                </a:lnTo>
                <a:lnTo>
                  <a:pt x="256314" y="413848"/>
                </a:lnTo>
                <a:lnTo>
                  <a:pt x="270555" y="414305"/>
                </a:lnTo>
                <a:lnTo>
                  <a:pt x="284794" y="414317"/>
                </a:lnTo>
                <a:lnTo>
                  <a:pt x="299035" y="414317"/>
                </a:lnTo>
                <a:lnTo>
                  <a:pt x="313274" y="414313"/>
                </a:lnTo>
                <a:lnTo>
                  <a:pt x="327513" y="414325"/>
                </a:lnTo>
                <a:lnTo>
                  <a:pt x="341753" y="414329"/>
                </a:lnTo>
                <a:lnTo>
                  <a:pt x="355992" y="414313"/>
                </a:lnTo>
                <a:lnTo>
                  <a:pt x="370233" y="414219"/>
                </a:lnTo>
                <a:lnTo>
                  <a:pt x="384472" y="414186"/>
                </a:lnTo>
                <a:lnTo>
                  <a:pt x="398713" y="414264"/>
                </a:lnTo>
                <a:lnTo>
                  <a:pt x="412952" y="414289"/>
                </a:lnTo>
                <a:lnTo>
                  <a:pt x="427191" y="414309"/>
                </a:lnTo>
                <a:lnTo>
                  <a:pt x="441432" y="414333"/>
                </a:lnTo>
                <a:lnTo>
                  <a:pt x="455671" y="414338"/>
                </a:lnTo>
                <a:lnTo>
                  <a:pt x="469911" y="414338"/>
                </a:lnTo>
                <a:lnTo>
                  <a:pt x="484150" y="414268"/>
                </a:lnTo>
                <a:lnTo>
                  <a:pt x="498389" y="413558"/>
                </a:lnTo>
                <a:lnTo>
                  <a:pt x="512630" y="398712"/>
                </a:lnTo>
                <a:lnTo>
                  <a:pt x="526869" y="362135"/>
                </a:lnTo>
                <a:lnTo>
                  <a:pt x="541110" y="1004"/>
                </a:lnTo>
                <a:lnTo>
                  <a:pt x="555349" y="367"/>
                </a:lnTo>
                <a:lnTo>
                  <a:pt x="569588" y="363193"/>
                </a:lnTo>
                <a:lnTo>
                  <a:pt x="583829" y="411226"/>
                </a:lnTo>
                <a:lnTo>
                  <a:pt x="598067" y="413901"/>
                </a:lnTo>
                <a:lnTo>
                  <a:pt x="612308" y="414195"/>
                </a:lnTo>
                <a:lnTo>
                  <a:pt x="626547" y="414309"/>
                </a:lnTo>
                <a:lnTo>
                  <a:pt x="640788" y="414338"/>
                </a:lnTo>
                <a:lnTo>
                  <a:pt x="655027" y="414338"/>
                </a:lnTo>
                <a:lnTo>
                  <a:pt x="669266" y="414313"/>
                </a:lnTo>
                <a:lnTo>
                  <a:pt x="683507" y="414240"/>
                </a:lnTo>
                <a:lnTo>
                  <a:pt x="697746" y="414137"/>
                </a:lnTo>
                <a:lnTo>
                  <a:pt x="711987" y="414133"/>
                </a:lnTo>
                <a:lnTo>
                  <a:pt x="726226" y="414203"/>
                </a:lnTo>
                <a:lnTo>
                  <a:pt x="740464" y="414268"/>
                </a:lnTo>
                <a:lnTo>
                  <a:pt x="754705" y="414329"/>
                </a:lnTo>
                <a:lnTo>
                  <a:pt x="768944" y="414325"/>
                </a:lnTo>
                <a:lnTo>
                  <a:pt x="783185" y="414297"/>
                </a:lnTo>
                <a:lnTo>
                  <a:pt x="797424" y="414215"/>
                </a:lnTo>
                <a:lnTo>
                  <a:pt x="811663" y="414015"/>
                </a:lnTo>
                <a:lnTo>
                  <a:pt x="825904" y="411884"/>
                </a:lnTo>
                <a:lnTo>
                  <a:pt x="840143" y="379819"/>
                </a:lnTo>
                <a:lnTo>
                  <a:pt x="854384" y="194003"/>
                </a:lnTo>
                <a:lnTo>
                  <a:pt x="868622" y="25960"/>
                </a:lnTo>
                <a:lnTo>
                  <a:pt x="882863" y="1376"/>
                </a:lnTo>
                <a:lnTo>
                  <a:pt x="897102" y="250839"/>
                </a:lnTo>
                <a:lnTo>
                  <a:pt x="911341" y="411594"/>
                </a:lnTo>
                <a:lnTo>
                  <a:pt x="925582" y="413978"/>
                </a:lnTo>
                <a:lnTo>
                  <a:pt x="939821" y="414162"/>
                </a:lnTo>
                <a:lnTo>
                  <a:pt x="954062" y="414272"/>
                </a:lnTo>
                <a:lnTo>
                  <a:pt x="968301" y="414317"/>
                </a:lnTo>
                <a:lnTo>
                  <a:pt x="982540" y="414329"/>
                </a:lnTo>
                <a:lnTo>
                  <a:pt x="996781" y="414338"/>
                </a:lnTo>
                <a:lnTo>
                  <a:pt x="1011019" y="414329"/>
                </a:lnTo>
                <a:lnTo>
                  <a:pt x="1025260" y="414338"/>
                </a:lnTo>
                <a:lnTo>
                  <a:pt x="1039499" y="414317"/>
                </a:lnTo>
                <a:lnTo>
                  <a:pt x="1053738" y="414272"/>
                </a:lnTo>
                <a:lnTo>
                  <a:pt x="1067979" y="414276"/>
                </a:lnTo>
                <a:lnTo>
                  <a:pt x="1082218" y="414268"/>
                </a:lnTo>
                <a:lnTo>
                  <a:pt x="1096459" y="414272"/>
                </a:lnTo>
                <a:lnTo>
                  <a:pt x="1110698" y="414170"/>
                </a:lnTo>
                <a:lnTo>
                  <a:pt x="1124937" y="413880"/>
                </a:lnTo>
                <a:lnTo>
                  <a:pt x="1139177" y="412084"/>
                </a:lnTo>
                <a:lnTo>
                  <a:pt x="1153416" y="382036"/>
                </a:lnTo>
                <a:lnTo>
                  <a:pt x="1167657" y="197033"/>
                </a:lnTo>
                <a:lnTo>
                  <a:pt x="1181896" y="26303"/>
                </a:lnTo>
                <a:lnTo>
                  <a:pt x="1196137" y="2123"/>
                </a:lnTo>
                <a:lnTo>
                  <a:pt x="1210376" y="18754"/>
                </a:lnTo>
                <a:lnTo>
                  <a:pt x="1224615" y="333089"/>
                </a:lnTo>
                <a:lnTo>
                  <a:pt x="1238856" y="408625"/>
                </a:lnTo>
                <a:lnTo>
                  <a:pt x="1253095" y="413578"/>
                </a:lnTo>
                <a:lnTo>
                  <a:pt x="1267335" y="413999"/>
                </a:lnTo>
                <a:lnTo>
                  <a:pt x="1281574" y="414203"/>
                </a:lnTo>
                <a:lnTo>
                  <a:pt x="1295813" y="414280"/>
                </a:lnTo>
                <a:lnTo>
                  <a:pt x="1310054" y="414329"/>
                </a:lnTo>
                <a:lnTo>
                  <a:pt x="1324293" y="414309"/>
                </a:lnTo>
                <a:lnTo>
                  <a:pt x="1338534" y="414240"/>
                </a:lnTo>
                <a:lnTo>
                  <a:pt x="1352773" y="413868"/>
                </a:lnTo>
                <a:lnTo>
                  <a:pt x="1367012" y="413011"/>
                </a:lnTo>
                <a:lnTo>
                  <a:pt x="1381253" y="412578"/>
                </a:lnTo>
                <a:lnTo>
                  <a:pt x="1395491" y="412345"/>
                </a:lnTo>
                <a:lnTo>
                  <a:pt x="1409732" y="411961"/>
                </a:lnTo>
                <a:lnTo>
                  <a:pt x="1423971" y="410851"/>
                </a:lnTo>
                <a:lnTo>
                  <a:pt x="1438212" y="408413"/>
                </a:lnTo>
                <a:lnTo>
                  <a:pt x="1452451" y="399116"/>
                </a:lnTo>
                <a:lnTo>
                  <a:pt x="1466690" y="368223"/>
                </a:lnTo>
                <a:lnTo>
                  <a:pt x="1480931" y="225536"/>
                </a:lnTo>
                <a:lnTo>
                  <a:pt x="1495170" y="49323"/>
                </a:lnTo>
                <a:lnTo>
                  <a:pt x="1509411" y="11106"/>
                </a:lnTo>
                <a:lnTo>
                  <a:pt x="1523650" y="12208"/>
                </a:lnTo>
                <a:lnTo>
                  <a:pt x="1537888" y="68677"/>
                </a:lnTo>
                <a:lnTo>
                  <a:pt x="1552129" y="370110"/>
                </a:lnTo>
                <a:lnTo>
                  <a:pt x="1566368" y="411863"/>
                </a:lnTo>
                <a:lnTo>
                  <a:pt x="1580609" y="413750"/>
                </a:lnTo>
                <a:lnTo>
                  <a:pt x="1594848" y="413856"/>
                </a:lnTo>
                <a:lnTo>
                  <a:pt x="1609087" y="413946"/>
                </a:lnTo>
                <a:lnTo>
                  <a:pt x="1623328" y="414129"/>
                </a:lnTo>
                <a:lnTo>
                  <a:pt x="1637567" y="414080"/>
                </a:lnTo>
                <a:lnTo>
                  <a:pt x="1651808" y="413986"/>
                </a:lnTo>
                <a:lnTo>
                  <a:pt x="1666046" y="413770"/>
                </a:lnTo>
                <a:lnTo>
                  <a:pt x="1680287" y="412455"/>
                </a:lnTo>
                <a:lnTo>
                  <a:pt x="1694526" y="404946"/>
                </a:lnTo>
                <a:lnTo>
                  <a:pt x="1708765" y="392660"/>
                </a:lnTo>
                <a:lnTo>
                  <a:pt x="1723006" y="393836"/>
                </a:lnTo>
                <a:lnTo>
                  <a:pt x="1737245" y="390823"/>
                </a:lnTo>
                <a:lnTo>
                  <a:pt x="1751486" y="394808"/>
                </a:lnTo>
                <a:lnTo>
                  <a:pt x="1765725" y="382036"/>
                </a:lnTo>
                <a:lnTo>
                  <a:pt x="1779964" y="347449"/>
                </a:lnTo>
                <a:lnTo>
                  <a:pt x="1794205" y="255077"/>
                </a:lnTo>
                <a:lnTo>
                  <a:pt x="1808443" y="98822"/>
                </a:lnTo>
                <a:lnTo>
                  <a:pt x="1822684" y="244216"/>
                </a:lnTo>
                <a:lnTo>
                  <a:pt x="1836923" y="305336"/>
                </a:lnTo>
                <a:lnTo>
                  <a:pt x="1851162" y="180557"/>
                </a:lnTo>
                <a:lnTo>
                  <a:pt x="1865403" y="308133"/>
                </a:lnTo>
                <a:lnTo>
                  <a:pt x="1879642" y="385421"/>
                </a:lnTo>
                <a:lnTo>
                  <a:pt x="1893883" y="408045"/>
                </a:lnTo>
                <a:lnTo>
                  <a:pt x="1908122" y="412766"/>
                </a:lnTo>
                <a:lnTo>
                  <a:pt x="1922363" y="412933"/>
                </a:lnTo>
                <a:lnTo>
                  <a:pt x="1936601" y="412900"/>
                </a:lnTo>
                <a:lnTo>
                  <a:pt x="1950840" y="412153"/>
                </a:lnTo>
                <a:lnTo>
                  <a:pt x="1965081" y="411875"/>
                </a:lnTo>
                <a:lnTo>
                  <a:pt x="1979320" y="410895"/>
                </a:lnTo>
                <a:lnTo>
                  <a:pt x="1993561" y="408188"/>
                </a:lnTo>
                <a:lnTo>
                  <a:pt x="2007800" y="399177"/>
                </a:lnTo>
                <a:lnTo>
                  <a:pt x="2022039" y="368383"/>
                </a:lnTo>
                <a:lnTo>
                  <a:pt x="2036280" y="306740"/>
                </a:lnTo>
                <a:lnTo>
                  <a:pt x="2050519" y="306581"/>
                </a:lnTo>
                <a:lnTo>
                  <a:pt x="2064760" y="360874"/>
                </a:lnTo>
                <a:lnTo>
                  <a:pt x="2078998" y="342831"/>
                </a:lnTo>
                <a:lnTo>
                  <a:pt x="2093237" y="254694"/>
                </a:lnTo>
                <a:lnTo>
                  <a:pt x="2107478" y="186760"/>
                </a:lnTo>
                <a:lnTo>
                  <a:pt x="2121717" y="185955"/>
                </a:lnTo>
                <a:lnTo>
                  <a:pt x="2135958" y="216264"/>
                </a:lnTo>
                <a:lnTo>
                  <a:pt x="2150197" y="243824"/>
                </a:lnTo>
                <a:lnTo>
                  <a:pt x="2164438" y="283042"/>
                </a:lnTo>
                <a:lnTo>
                  <a:pt x="2178677" y="187964"/>
                </a:lnTo>
                <a:lnTo>
                  <a:pt x="2192915" y="169684"/>
                </a:lnTo>
                <a:lnTo>
                  <a:pt x="2207156" y="267151"/>
                </a:lnTo>
                <a:lnTo>
                  <a:pt x="2221395" y="321141"/>
                </a:lnTo>
                <a:lnTo>
                  <a:pt x="2235636" y="394988"/>
                </a:lnTo>
                <a:lnTo>
                  <a:pt x="2249875" y="406825"/>
                </a:lnTo>
                <a:lnTo>
                  <a:pt x="2264114" y="411406"/>
                </a:lnTo>
                <a:lnTo>
                  <a:pt x="2278355" y="412721"/>
                </a:lnTo>
                <a:lnTo>
                  <a:pt x="2292594" y="412488"/>
                </a:lnTo>
                <a:lnTo>
                  <a:pt x="2306835" y="412525"/>
                </a:lnTo>
                <a:lnTo>
                  <a:pt x="2321074" y="412161"/>
                </a:lnTo>
                <a:lnTo>
                  <a:pt x="2335312" y="403693"/>
                </a:lnTo>
                <a:lnTo>
                  <a:pt x="2349553" y="351536"/>
                </a:lnTo>
                <a:lnTo>
                  <a:pt x="2363792" y="323795"/>
                </a:lnTo>
                <a:lnTo>
                  <a:pt x="2378033" y="51369"/>
                </a:lnTo>
                <a:lnTo>
                  <a:pt x="2392272" y="15381"/>
                </a:lnTo>
                <a:lnTo>
                  <a:pt x="2406513" y="304499"/>
                </a:lnTo>
                <a:lnTo>
                  <a:pt x="2420752" y="390823"/>
                </a:lnTo>
                <a:lnTo>
                  <a:pt x="2434991" y="409671"/>
                </a:lnTo>
                <a:lnTo>
                  <a:pt x="2449232" y="403023"/>
                </a:lnTo>
                <a:lnTo>
                  <a:pt x="2463470" y="402154"/>
                </a:lnTo>
                <a:lnTo>
                  <a:pt x="2477711" y="385123"/>
                </a:lnTo>
                <a:lnTo>
                  <a:pt x="2491950" y="334150"/>
                </a:lnTo>
                <a:lnTo>
                  <a:pt x="2506189" y="224532"/>
                </a:lnTo>
                <a:lnTo>
                  <a:pt x="2520430" y="174212"/>
                </a:lnTo>
                <a:lnTo>
                  <a:pt x="2534669" y="168312"/>
                </a:lnTo>
                <a:lnTo>
                  <a:pt x="2548910" y="280131"/>
                </a:lnTo>
                <a:lnTo>
                  <a:pt x="2563149" y="394624"/>
                </a:lnTo>
                <a:lnTo>
                  <a:pt x="2577388" y="409548"/>
                </a:lnTo>
                <a:lnTo>
                  <a:pt x="2591629" y="412680"/>
                </a:lnTo>
                <a:lnTo>
                  <a:pt x="2605867" y="413721"/>
                </a:lnTo>
                <a:lnTo>
                  <a:pt x="2620108" y="413635"/>
                </a:lnTo>
                <a:lnTo>
                  <a:pt x="2634347" y="412810"/>
                </a:lnTo>
                <a:lnTo>
                  <a:pt x="2648588" y="408237"/>
                </a:lnTo>
                <a:lnTo>
                  <a:pt x="2662827" y="334624"/>
                </a:lnTo>
                <a:lnTo>
                  <a:pt x="2677066" y="89827"/>
                </a:lnTo>
                <a:lnTo>
                  <a:pt x="2691307" y="110463"/>
                </a:lnTo>
                <a:lnTo>
                  <a:pt x="2705546" y="35086"/>
                </a:lnTo>
                <a:lnTo>
                  <a:pt x="2719787" y="28696"/>
                </a:lnTo>
                <a:lnTo>
                  <a:pt x="2734025" y="260030"/>
                </a:lnTo>
                <a:lnTo>
                  <a:pt x="2748264" y="400226"/>
                </a:lnTo>
                <a:lnTo>
                  <a:pt x="2762505" y="409250"/>
                </a:lnTo>
                <a:lnTo>
                  <a:pt x="2776744" y="408401"/>
                </a:lnTo>
                <a:lnTo>
                  <a:pt x="2790985" y="405604"/>
                </a:lnTo>
                <a:lnTo>
                  <a:pt x="2805224" y="401884"/>
                </a:lnTo>
                <a:lnTo>
                  <a:pt x="2819463" y="387749"/>
                </a:lnTo>
                <a:lnTo>
                  <a:pt x="2833704" y="340846"/>
                </a:lnTo>
                <a:lnTo>
                  <a:pt x="2847943" y="291980"/>
                </a:lnTo>
                <a:lnTo>
                  <a:pt x="2862184" y="253154"/>
                </a:lnTo>
                <a:lnTo>
                  <a:pt x="2876422" y="329071"/>
                </a:lnTo>
                <a:lnTo>
                  <a:pt x="2890663" y="393726"/>
                </a:lnTo>
                <a:lnTo>
                  <a:pt x="2904902" y="409916"/>
                </a:lnTo>
                <a:lnTo>
                  <a:pt x="2919141" y="413170"/>
                </a:lnTo>
                <a:lnTo>
                  <a:pt x="2933382" y="413799"/>
                </a:lnTo>
                <a:lnTo>
                  <a:pt x="2947621" y="413843"/>
                </a:lnTo>
                <a:lnTo>
                  <a:pt x="2961862" y="413701"/>
                </a:lnTo>
                <a:lnTo>
                  <a:pt x="2976101" y="411475"/>
                </a:lnTo>
                <a:lnTo>
                  <a:pt x="2990340" y="292319"/>
                </a:lnTo>
                <a:lnTo>
                  <a:pt x="3004580" y="15075"/>
                </a:lnTo>
                <a:lnTo>
                  <a:pt x="3018819" y="2850"/>
                </a:lnTo>
                <a:lnTo>
                  <a:pt x="3033060" y="5831"/>
                </a:lnTo>
                <a:lnTo>
                  <a:pt x="3047299" y="117915"/>
                </a:lnTo>
                <a:lnTo>
                  <a:pt x="3061538" y="391215"/>
                </a:lnTo>
                <a:lnTo>
                  <a:pt x="3075779" y="409834"/>
                </a:lnTo>
                <a:lnTo>
                  <a:pt x="3090018" y="410581"/>
                </a:lnTo>
                <a:lnTo>
                  <a:pt x="3104259" y="411136"/>
                </a:lnTo>
                <a:lnTo>
                  <a:pt x="3118498" y="409519"/>
                </a:lnTo>
                <a:lnTo>
                  <a:pt x="3132738" y="395592"/>
                </a:lnTo>
                <a:lnTo>
                  <a:pt x="3146977" y="329736"/>
                </a:lnTo>
                <a:lnTo>
                  <a:pt x="3161216" y="156533"/>
                </a:lnTo>
                <a:lnTo>
                  <a:pt x="3175457" y="57751"/>
                </a:lnTo>
                <a:lnTo>
                  <a:pt x="3189696" y="66562"/>
                </a:lnTo>
                <a:lnTo>
                  <a:pt x="3203937" y="256037"/>
                </a:lnTo>
                <a:lnTo>
                  <a:pt x="3218176" y="390125"/>
                </a:lnTo>
                <a:lnTo>
                  <a:pt x="3232415" y="411075"/>
                </a:lnTo>
                <a:lnTo>
                  <a:pt x="3246656" y="413676"/>
                </a:lnTo>
                <a:lnTo>
                  <a:pt x="3260894" y="413982"/>
                </a:lnTo>
                <a:lnTo>
                  <a:pt x="3275135" y="413182"/>
                </a:lnTo>
                <a:lnTo>
                  <a:pt x="3289374" y="413288"/>
                </a:lnTo>
                <a:lnTo>
                  <a:pt x="3303613" y="406000"/>
                </a:lnTo>
                <a:lnTo>
                  <a:pt x="3317854" y="361233"/>
                </a:lnTo>
                <a:lnTo>
                  <a:pt x="3332093" y="26948"/>
                </a:lnTo>
                <a:lnTo>
                  <a:pt x="3346334" y="8864"/>
                </a:lnTo>
                <a:lnTo>
                  <a:pt x="3360573" y="269372"/>
                </a:lnTo>
                <a:lnTo>
                  <a:pt x="3374812" y="403268"/>
                </a:lnTo>
                <a:lnTo>
                  <a:pt x="3389053" y="413186"/>
                </a:lnTo>
                <a:lnTo>
                  <a:pt x="3403291" y="414052"/>
                </a:lnTo>
                <a:lnTo>
                  <a:pt x="3417532" y="414035"/>
                </a:lnTo>
                <a:lnTo>
                  <a:pt x="3431771" y="413643"/>
                </a:lnTo>
                <a:lnTo>
                  <a:pt x="3446012" y="410295"/>
                </a:lnTo>
                <a:lnTo>
                  <a:pt x="3460251" y="384943"/>
                </a:lnTo>
                <a:lnTo>
                  <a:pt x="3474490" y="334624"/>
                </a:lnTo>
                <a:lnTo>
                  <a:pt x="3488731" y="314192"/>
                </a:lnTo>
                <a:lnTo>
                  <a:pt x="3502970" y="332207"/>
                </a:lnTo>
                <a:lnTo>
                  <a:pt x="3517211" y="383853"/>
                </a:lnTo>
                <a:lnTo>
                  <a:pt x="3531449" y="404346"/>
                </a:lnTo>
                <a:lnTo>
                  <a:pt x="3545688" y="412480"/>
                </a:lnTo>
                <a:lnTo>
                  <a:pt x="3559929" y="414003"/>
                </a:lnTo>
                <a:lnTo>
                  <a:pt x="3574168" y="414272"/>
                </a:lnTo>
                <a:lnTo>
                  <a:pt x="3588409" y="414215"/>
                </a:lnTo>
                <a:lnTo>
                  <a:pt x="3602648" y="413807"/>
                </a:lnTo>
                <a:lnTo>
                  <a:pt x="3616887" y="409487"/>
                </a:lnTo>
                <a:lnTo>
                  <a:pt x="3631128" y="389468"/>
                </a:lnTo>
                <a:lnTo>
                  <a:pt x="3645367" y="80477"/>
                </a:lnTo>
                <a:lnTo>
                  <a:pt x="3659608" y="8366"/>
                </a:lnTo>
                <a:lnTo>
                  <a:pt x="3673846" y="229501"/>
                </a:lnTo>
                <a:lnTo>
                  <a:pt x="3688087" y="370359"/>
                </a:lnTo>
                <a:lnTo>
                  <a:pt x="3702326" y="401790"/>
                </a:lnTo>
                <a:lnTo>
                  <a:pt x="3716565" y="410144"/>
                </a:lnTo>
                <a:lnTo>
                  <a:pt x="3730806" y="412627"/>
                </a:lnTo>
                <a:lnTo>
                  <a:pt x="3745045" y="413104"/>
                </a:lnTo>
                <a:lnTo>
                  <a:pt x="3759286" y="413039"/>
                </a:lnTo>
                <a:lnTo>
                  <a:pt x="3773525" y="411781"/>
                </a:lnTo>
                <a:lnTo>
                  <a:pt x="3787764" y="395731"/>
                </a:lnTo>
                <a:lnTo>
                  <a:pt x="3802004" y="301767"/>
                </a:lnTo>
                <a:lnTo>
                  <a:pt x="3816243" y="222621"/>
                </a:lnTo>
                <a:lnTo>
                  <a:pt x="3830484" y="271667"/>
                </a:lnTo>
                <a:lnTo>
                  <a:pt x="3844723" y="339042"/>
                </a:lnTo>
                <a:lnTo>
                  <a:pt x="3858962" y="383159"/>
                </a:lnTo>
                <a:lnTo>
                  <a:pt x="3873203" y="405514"/>
                </a:lnTo>
                <a:lnTo>
                  <a:pt x="3887442" y="411537"/>
                </a:lnTo>
                <a:lnTo>
                  <a:pt x="3901683" y="413084"/>
                </a:lnTo>
                <a:lnTo>
                  <a:pt x="3915922" y="413496"/>
                </a:lnTo>
                <a:lnTo>
                  <a:pt x="3930162" y="412063"/>
                </a:lnTo>
                <a:lnTo>
                  <a:pt x="3944401" y="401014"/>
                </a:lnTo>
                <a:lnTo>
                  <a:pt x="3958640" y="349641"/>
                </a:lnTo>
                <a:lnTo>
                  <a:pt x="3972881" y="79281"/>
                </a:lnTo>
                <a:lnTo>
                  <a:pt x="3987120" y="4581"/>
                </a:lnTo>
                <a:lnTo>
                  <a:pt x="4001361" y="71768"/>
                </a:lnTo>
                <a:lnTo>
                  <a:pt x="4015600" y="297468"/>
                </a:lnTo>
                <a:lnTo>
                  <a:pt x="4029839" y="384184"/>
                </a:lnTo>
                <a:lnTo>
                  <a:pt x="4044080" y="405812"/>
                </a:lnTo>
                <a:lnTo>
                  <a:pt x="4058318" y="412435"/>
                </a:lnTo>
                <a:lnTo>
                  <a:pt x="4072559" y="413770"/>
                </a:lnTo>
                <a:lnTo>
                  <a:pt x="4086798" y="413986"/>
                </a:lnTo>
                <a:lnTo>
                  <a:pt x="4101037" y="413786"/>
                </a:lnTo>
                <a:lnTo>
                  <a:pt x="4115278" y="413145"/>
                </a:lnTo>
                <a:lnTo>
                  <a:pt x="4129517" y="407445"/>
                </a:lnTo>
                <a:lnTo>
                  <a:pt x="4143758" y="397327"/>
                </a:lnTo>
                <a:lnTo>
                  <a:pt x="4157997" y="397679"/>
                </a:lnTo>
                <a:lnTo>
                  <a:pt x="4172238" y="403436"/>
                </a:lnTo>
                <a:lnTo>
                  <a:pt x="4186477" y="411606"/>
                </a:lnTo>
                <a:lnTo>
                  <a:pt x="4200715" y="413104"/>
                </a:lnTo>
                <a:lnTo>
                  <a:pt x="4214956" y="413603"/>
                </a:lnTo>
                <a:lnTo>
                  <a:pt x="4229195" y="413713"/>
                </a:lnTo>
                <a:lnTo>
                  <a:pt x="4243436" y="413684"/>
                </a:lnTo>
                <a:lnTo>
                  <a:pt x="4257675" y="412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32659A"/>
            </a:solidFill>
            <a:prstDash val="solid"/>
          </a:ln>
        </p:spPr>
      </p:sp>
      <p:sp>
        <p:nvSpPr>
          <p:cNvPr id="33" name="label-30">
            <a:extLst xmlns:a="http://schemas.openxmlformats.org/drawingml/2006/main">
              <a:ext uri="{FF2B5EF4-FFF2-40B4-BE49-F238E27FC236}">
                <a16:creationId xmlns:a16="http://schemas.microsoft.com/office/drawing/2014/main" id="{DDAC24E9-A947-4110-B77C-A8DDA08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72063"/>
            <a:ext cx="425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downbeat</a:t>
            </a:r>
          </a:p>
        </p:txBody>
      </p:sp>
      <p:sp>
        <p:nvSpPr>
          <p:cNvPr id="34" name="real_downbeat_probability_51">
            <a:extLst xmlns:a="http://schemas.openxmlformats.org/drawingml/2006/main">
              <a:ext uri="{FF2B5EF4-FFF2-40B4-BE49-F238E27FC236}">
                <a16:creationId xmlns:a16="http://schemas.microsoft.com/office/drawing/2014/main" id="{348A8025-3C3D-4A2D-81BA-382E5BDC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86388"/>
            <a:ext cx="4257675" cy="414338"/>
          </a:xfrm>
          <a:custGeom xmlns:a="http://schemas.openxmlformats.org/drawingml/2006/main">
            <a:pathLst>
              <a:path w="4257675" h="414338">
                <a:moveTo>
                  <a:pt x="0" y="414276"/>
                </a:moveTo>
                <a:lnTo>
                  <a:pt x="14239" y="414301"/>
                </a:lnTo>
                <a:lnTo>
                  <a:pt x="28480" y="414276"/>
                </a:lnTo>
                <a:lnTo>
                  <a:pt x="42719" y="414150"/>
                </a:lnTo>
                <a:lnTo>
                  <a:pt x="56960" y="414154"/>
                </a:lnTo>
                <a:lnTo>
                  <a:pt x="71198" y="414268"/>
                </a:lnTo>
                <a:lnTo>
                  <a:pt x="85437" y="414313"/>
                </a:lnTo>
                <a:lnTo>
                  <a:pt x="99678" y="414317"/>
                </a:lnTo>
                <a:lnTo>
                  <a:pt x="113917" y="414321"/>
                </a:lnTo>
                <a:lnTo>
                  <a:pt x="128158" y="414329"/>
                </a:lnTo>
                <a:lnTo>
                  <a:pt x="142397" y="414333"/>
                </a:lnTo>
                <a:lnTo>
                  <a:pt x="156638" y="414333"/>
                </a:lnTo>
                <a:lnTo>
                  <a:pt x="170877" y="414329"/>
                </a:lnTo>
                <a:lnTo>
                  <a:pt x="185116" y="414317"/>
                </a:lnTo>
                <a:lnTo>
                  <a:pt x="199357" y="414288"/>
                </a:lnTo>
                <a:lnTo>
                  <a:pt x="213595" y="409952"/>
                </a:lnTo>
                <a:lnTo>
                  <a:pt x="227836" y="414276"/>
                </a:lnTo>
                <a:lnTo>
                  <a:pt x="242075" y="414325"/>
                </a:lnTo>
                <a:lnTo>
                  <a:pt x="256314" y="414333"/>
                </a:lnTo>
                <a:lnTo>
                  <a:pt x="270555" y="414338"/>
                </a:lnTo>
                <a:lnTo>
                  <a:pt x="284794" y="414333"/>
                </a:lnTo>
                <a:lnTo>
                  <a:pt x="299035" y="414333"/>
                </a:lnTo>
                <a:lnTo>
                  <a:pt x="313274" y="414333"/>
                </a:lnTo>
                <a:lnTo>
                  <a:pt x="327513" y="414333"/>
                </a:lnTo>
                <a:lnTo>
                  <a:pt x="341753" y="414333"/>
                </a:lnTo>
                <a:lnTo>
                  <a:pt x="355992" y="414329"/>
                </a:lnTo>
                <a:lnTo>
                  <a:pt x="370233" y="414305"/>
                </a:lnTo>
                <a:lnTo>
                  <a:pt x="384472" y="414301"/>
                </a:lnTo>
                <a:lnTo>
                  <a:pt x="398713" y="414329"/>
                </a:lnTo>
                <a:lnTo>
                  <a:pt x="412952" y="414333"/>
                </a:lnTo>
                <a:lnTo>
                  <a:pt x="427191" y="414333"/>
                </a:lnTo>
                <a:lnTo>
                  <a:pt x="441432" y="414333"/>
                </a:lnTo>
                <a:lnTo>
                  <a:pt x="455671" y="414333"/>
                </a:lnTo>
                <a:lnTo>
                  <a:pt x="469911" y="414333"/>
                </a:lnTo>
                <a:lnTo>
                  <a:pt x="484150" y="414333"/>
                </a:lnTo>
                <a:lnTo>
                  <a:pt x="498389" y="414329"/>
                </a:lnTo>
                <a:lnTo>
                  <a:pt x="512630" y="414293"/>
                </a:lnTo>
                <a:lnTo>
                  <a:pt x="526869" y="414293"/>
                </a:lnTo>
                <a:lnTo>
                  <a:pt x="541110" y="407710"/>
                </a:lnTo>
                <a:lnTo>
                  <a:pt x="555349" y="399224"/>
                </a:lnTo>
                <a:lnTo>
                  <a:pt x="569588" y="414293"/>
                </a:lnTo>
                <a:lnTo>
                  <a:pt x="583829" y="414321"/>
                </a:lnTo>
                <a:lnTo>
                  <a:pt x="598067" y="414329"/>
                </a:lnTo>
                <a:lnTo>
                  <a:pt x="612308" y="414329"/>
                </a:lnTo>
                <a:lnTo>
                  <a:pt x="626547" y="414333"/>
                </a:lnTo>
                <a:lnTo>
                  <a:pt x="640788" y="414333"/>
                </a:lnTo>
                <a:lnTo>
                  <a:pt x="655027" y="414333"/>
                </a:lnTo>
                <a:lnTo>
                  <a:pt x="669266" y="414333"/>
                </a:lnTo>
                <a:lnTo>
                  <a:pt x="683507" y="414317"/>
                </a:lnTo>
                <a:lnTo>
                  <a:pt x="697746" y="414297"/>
                </a:lnTo>
                <a:lnTo>
                  <a:pt x="711987" y="414305"/>
                </a:lnTo>
                <a:lnTo>
                  <a:pt x="726226" y="414321"/>
                </a:lnTo>
                <a:lnTo>
                  <a:pt x="740464" y="414329"/>
                </a:lnTo>
                <a:lnTo>
                  <a:pt x="754705" y="414333"/>
                </a:lnTo>
                <a:lnTo>
                  <a:pt x="768944" y="414338"/>
                </a:lnTo>
                <a:lnTo>
                  <a:pt x="783185" y="414338"/>
                </a:lnTo>
                <a:lnTo>
                  <a:pt x="797424" y="414338"/>
                </a:lnTo>
                <a:lnTo>
                  <a:pt x="811663" y="414338"/>
                </a:lnTo>
                <a:lnTo>
                  <a:pt x="825904" y="414338"/>
                </a:lnTo>
                <a:lnTo>
                  <a:pt x="840143" y="414333"/>
                </a:lnTo>
                <a:lnTo>
                  <a:pt x="854384" y="414321"/>
                </a:lnTo>
                <a:lnTo>
                  <a:pt x="868622" y="414244"/>
                </a:lnTo>
                <a:lnTo>
                  <a:pt x="882863" y="413790"/>
                </a:lnTo>
                <a:lnTo>
                  <a:pt x="897102" y="414309"/>
                </a:lnTo>
                <a:lnTo>
                  <a:pt x="911341" y="414333"/>
                </a:lnTo>
                <a:lnTo>
                  <a:pt x="925582" y="414333"/>
                </a:lnTo>
                <a:lnTo>
                  <a:pt x="939821" y="414329"/>
                </a:lnTo>
                <a:lnTo>
                  <a:pt x="954062" y="414325"/>
                </a:lnTo>
                <a:lnTo>
                  <a:pt x="968301" y="414325"/>
                </a:lnTo>
                <a:lnTo>
                  <a:pt x="982540" y="414317"/>
                </a:lnTo>
                <a:lnTo>
                  <a:pt x="996781" y="414305"/>
                </a:lnTo>
                <a:lnTo>
                  <a:pt x="1011019" y="414284"/>
                </a:lnTo>
                <a:lnTo>
                  <a:pt x="1025260" y="414272"/>
                </a:lnTo>
                <a:lnTo>
                  <a:pt x="1039499" y="414203"/>
                </a:lnTo>
                <a:lnTo>
                  <a:pt x="1053738" y="414170"/>
                </a:lnTo>
                <a:lnTo>
                  <a:pt x="1067979" y="414272"/>
                </a:lnTo>
                <a:lnTo>
                  <a:pt x="1082218" y="414268"/>
                </a:lnTo>
                <a:lnTo>
                  <a:pt x="1096459" y="414264"/>
                </a:lnTo>
                <a:lnTo>
                  <a:pt x="1110698" y="414088"/>
                </a:lnTo>
                <a:lnTo>
                  <a:pt x="1124937" y="413402"/>
                </a:lnTo>
                <a:lnTo>
                  <a:pt x="1139177" y="407959"/>
                </a:lnTo>
                <a:lnTo>
                  <a:pt x="1153416" y="318893"/>
                </a:lnTo>
                <a:lnTo>
                  <a:pt x="1167657" y="72222"/>
                </a:lnTo>
                <a:lnTo>
                  <a:pt x="1181896" y="5774"/>
                </a:lnTo>
                <a:lnTo>
                  <a:pt x="1196137" y="0"/>
                </a:lnTo>
                <a:lnTo>
                  <a:pt x="1210376" y="2924"/>
                </a:lnTo>
                <a:lnTo>
                  <a:pt x="1224615" y="179178"/>
                </a:lnTo>
                <a:lnTo>
                  <a:pt x="1238856" y="392343"/>
                </a:lnTo>
                <a:lnTo>
                  <a:pt x="1253095" y="412561"/>
                </a:lnTo>
                <a:lnTo>
                  <a:pt x="1267335" y="413676"/>
                </a:lnTo>
                <a:lnTo>
                  <a:pt x="1281574" y="414137"/>
                </a:lnTo>
                <a:lnTo>
                  <a:pt x="1295813" y="414256"/>
                </a:lnTo>
                <a:lnTo>
                  <a:pt x="1310054" y="414301"/>
                </a:lnTo>
                <a:lnTo>
                  <a:pt x="1324293" y="414280"/>
                </a:lnTo>
                <a:lnTo>
                  <a:pt x="1338534" y="414174"/>
                </a:lnTo>
                <a:lnTo>
                  <a:pt x="1352773" y="413484"/>
                </a:lnTo>
                <a:lnTo>
                  <a:pt x="1367012" y="411622"/>
                </a:lnTo>
                <a:lnTo>
                  <a:pt x="1381253" y="412296"/>
                </a:lnTo>
                <a:lnTo>
                  <a:pt x="1395491" y="412961"/>
                </a:lnTo>
                <a:lnTo>
                  <a:pt x="1409732" y="413002"/>
                </a:lnTo>
                <a:lnTo>
                  <a:pt x="1423971" y="413190"/>
                </a:lnTo>
                <a:lnTo>
                  <a:pt x="1438212" y="413847"/>
                </a:lnTo>
                <a:lnTo>
                  <a:pt x="1452451" y="414162"/>
                </a:lnTo>
                <a:lnTo>
                  <a:pt x="1466690" y="414235"/>
                </a:lnTo>
                <a:lnTo>
                  <a:pt x="1480931" y="414264"/>
                </a:lnTo>
                <a:lnTo>
                  <a:pt x="1495170" y="414211"/>
                </a:lnTo>
                <a:lnTo>
                  <a:pt x="1509411" y="414170"/>
                </a:lnTo>
                <a:lnTo>
                  <a:pt x="1523650" y="414154"/>
                </a:lnTo>
                <a:lnTo>
                  <a:pt x="1537888" y="414231"/>
                </a:lnTo>
                <a:lnTo>
                  <a:pt x="1552129" y="414252"/>
                </a:lnTo>
                <a:lnTo>
                  <a:pt x="1566368" y="414301"/>
                </a:lnTo>
                <a:lnTo>
                  <a:pt x="1580609" y="414321"/>
                </a:lnTo>
                <a:lnTo>
                  <a:pt x="1594848" y="414321"/>
                </a:lnTo>
                <a:lnTo>
                  <a:pt x="1609087" y="414321"/>
                </a:lnTo>
                <a:lnTo>
                  <a:pt x="1623328" y="414321"/>
                </a:lnTo>
                <a:lnTo>
                  <a:pt x="1637567" y="414309"/>
                </a:lnTo>
                <a:lnTo>
                  <a:pt x="1651808" y="414297"/>
                </a:lnTo>
                <a:lnTo>
                  <a:pt x="1666046" y="414260"/>
                </a:lnTo>
                <a:lnTo>
                  <a:pt x="1680287" y="414088"/>
                </a:lnTo>
                <a:lnTo>
                  <a:pt x="1694526" y="413096"/>
                </a:lnTo>
                <a:lnTo>
                  <a:pt x="1708765" y="412855"/>
                </a:lnTo>
                <a:lnTo>
                  <a:pt x="1723006" y="413664"/>
                </a:lnTo>
                <a:lnTo>
                  <a:pt x="1737245" y="413794"/>
                </a:lnTo>
                <a:lnTo>
                  <a:pt x="1751486" y="413876"/>
                </a:lnTo>
                <a:lnTo>
                  <a:pt x="1765725" y="413594"/>
                </a:lnTo>
                <a:lnTo>
                  <a:pt x="1779964" y="413243"/>
                </a:lnTo>
                <a:lnTo>
                  <a:pt x="1794205" y="411667"/>
                </a:lnTo>
                <a:lnTo>
                  <a:pt x="1808443" y="407044"/>
                </a:lnTo>
                <a:lnTo>
                  <a:pt x="1822684" y="410915"/>
                </a:lnTo>
                <a:lnTo>
                  <a:pt x="1836923" y="412876"/>
                </a:lnTo>
                <a:lnTo>
                  <a:pt x="1851162" y="404582"/>
                </a:lnTo>
                <a:lnTo>
                  <a:pt x="1865403" y="409507"/>
                </a:lnTo>
                <a:lnTo>
                  <a:pt x="1879642" y="412965"/>
                </a:lnTo>
                <a:lnTo>
                  <a:pt x="1893883" y="413962"/>
                </a:lnTo>
                <a:lnTo>
                  <a:pt x="1908122" y="414244"/>
                </a:lnTo>
                <a:lnTo>
                  <a:pt x="1922363" y="414244"/>
                </a:lnTo>
                <a:lnTo>
                  <a:pt x="1936601" y="414248"/>
                </a:lnTo>
                <a:lnTo>
                  <a:pt x="1950840" y="414227"/>
                </a:lnTo>
                <a:lnTo>
                  <a:pt x="1965081" y="414219"/>
                </a:lnTo>
                <a:lnTo>
                  <a:pt x="1979320" y="414182"/>
                </a:lnTo>
                <a:lnTo>
                  <a:pt x="1993561" y="414060"/>
                </a:lnTo>
                <a:lnTo>
                  <a:pt x="2007800" y="413705"/>
                </a:lnTo>
                <a:lnTo>
                  <a:pt x="2022039" y="411875"/>
                </a:lnTo>
                <a:lnTo>
                  <a:pt x="2036280" y="409258"/>
                </a:lnTo>
                <a:lnTo>
                  <a:pt x="2050519" y="411169"/>
                </a:lnTo>
                <a:lnTo>
                  <a:pt x="2064760" y="412394"/>
                </a:lnTo>
                <a:lnTo>
                  <a:pt x="2078998" y="411602"/>
                </a:lnTo>
                <a:lnTo>
                  <a:pt x="2093237" y="411193"/>
                </a:lnTo>
                <a:lnTo>
                  <a:pt x="2107478" y="411679"/>
                </a:lnTo>
                <a:lnTo>
                  <a:pt x="2121717" y="412549"/>
                </a:lnTo>
                <a:lnTo>
                  <a:pt x="2135958" y="412512"/>
                </a:lnTo>
                <a:lnTo>
                  <a:pt x="2150197" y="411855"/>
                </a:lnTo>
                <a:lnTo>
                  <a:pt x="2164438" y="410981"/>
                </a:lnTo>
                <a:lnTo>
                  <a:pt x="2178677" y="407265"/>
                </a:lnTo>
                <a:lnTo>
                  <a:pt x="2192915" y="393952"/>
                </a:lnTo>
                <a:lnTo>
                  <a:pt x="2207156" y="393491"/>
                </a:lnTo>
                <a:lnTo>
                  <a:pt x="2221395" y="400662"/>
                </a:lnTo>
                <a:lnTo>
                  <a:pt x="2235636" y="409866"/>
                </a:lnTo>
                <a:lnTo>
                  <a:pt x="2249875" y="412300"/>
                </a:lnTo>
                <a:lnTo>
                  <a:pt x="2264114" y="412986"/>
                </a:lnTo>
                <a:lnTo>
                  <a:pt x="2278355" y="412896"/>
                </a:lnTo>
                <a:lnTo>
                  <a:pt x="2292594" y="411667"/>
                </a:lnTo>
                <a:lnTo>
                  <a:pt x="2306835" y="410666"/>
                </a:lnTo>
                <a:lnTo>
                  <a:pt x="2321074" y="408008"/>
                </a:lnTo>
                <a:lnTo>
                  <a:pt x="2335312" y="378329"/>
                </a:lnTo>
                <a:lnTo>
                  <a:pt x="2349553" y="251224"/>
                </a:lnTo>
                <a:lnTo>
                  <a:pt x="2363792" y="237111"/>
                </a:lnTo>
                <a:lnTo>
                  <a:pt x="2378033" y="16910"/>
                </a:lnTo>
                <a:lnTo>
                  <a:pt x="2392272" y="6203"/>
                </a:lnTo>
                <a:lnTo>
                  <a:pt x="2406513" y="205717"/>
                </a:lnTo>
                <a:lnTo>
                  <a:pt x="2420752" y="350316"/>
                </a:lnTo>
                <a:lnTo>
                  <a:pt x="2434991" y="398555"/>
                </a:lnTo>
                <a:lnTo>
                  <a:pt x="2449232" y="365641"/>
                </a:lnTo>
                <a:lnTo>
                  <a:pt x="2463470" y="355722"/>
                </a:lnTo>
                <a:lnTo>
                  <a:pt x="2477711" y="299863"/>
                </a:lnTo>
                <a:lnTo>
                  <a:pt x="2491950" y="189260"/>
                </a:lnTo>
                <a:lnTo>
                  <a:pt x="2506189" y="79838"/>
                </a:lnTo>
                <a:lnTo>
                  <a:pt x="2520430" y="50673"/>
                </a:lnTo>
                <a:lnTo>
                  <a:pt x="2534669" y="44650"/>
                </a:lnTo>
                <a:lnTo>
                  <a:pt x="2548910" y="110235"/>
                </a:lnTo>
                <a:lnTo>
                  <a:pt x="2563149" y="340029"/>
                </a:lnTo>
                <a:lnTo>
                  <a:pt x="2577388" y="399890"/>
                </a:lnTo>
                <a:lnTo>
                  <a:pt x="2591629" y="411826"/>
                </a:lnTo>
                <a:lnTo>
                  <a:pt x="2605867" y="413852"/>
                </a:lnTo>
                <a:lnTo>
                  <a:pt x="2620108" y="413868"/>
                </a:lnTo>
                <a:lnTo>
                  <a:pt x="2634347" y="413676"/>
                </a:lnTo>
                <a:lnTo>
                  <a:pt x="2648588" y="413819"/>
                </a:lnTo>
                <a:lnTo>
                  <a:pt x="2662827" y="411336"/>
                </a:lnTo>
                <a:lnTo>
                  <a:pt x="2677066" y="402242"/>
                </a:lnTo>
                <a:lnTo>
                  <a:pt x="2691307" y="410858"/>
                </a:lnTo>
                <a:lnTo>
                  <a:pt x="2705546" y="407914"/>
                </a:lnTo>
                <a:lnTo>
                  <a:pt x="2719787" y="409829"/>
                </a:lnTo>
                <a:lnTo>
                  <a:pt x="2734025" y="413941"/>
                </a:lnTo>
                <a:lnTo>
                  <a:pt x="2748264" y="414305"/>
                </a:lnTo>
                <a:lnTo>
                  <a:pt x="2762505" y="414317"/>
                </a:lnTo>
                <a:lnTo>
                  <a:pt x="2776744" y="414317"/>
                </a:lnTo>
                <a:lnTo>
                  <a:pt x="2790985" y="414301"/>
                </a:lnTo>
                <a:lnTo>
                  <a:pt x="2805224" y="414272"/>
                </a:lnTo>
                <a:lnTo>
                  <a:pt x="2819463" y="414227"/>
                </a:lnTo>
                <a:lnTo>
                  <a:pt x="2833704" y="414158"/>
                </a:lnTo>
                <a:lnTo>
                  <a:pt x="2847943" y="414146"/>
                </a:lnTo>
                <a:lnTo>
                  <a:pt x="2862184" y="413823"/>
                </a:lnTo>
                <a:lnTo>
                  <a:pt x="2876422" y="413909"/>
                </a:lnTo>
                <a:lnTo>
                  <a:pt x="2890663" y="414174"/>
                </a:lnTo>
                <a:lnTo>
                  <a:pt x="2904902" y="414305"/>
                </a:lnTo>
                <a:lnTo>
                  <a:pt x="2919141" y="414325"/>
                </a:lnTo>
                <a:lnTo>
                  <a:pt x="2933382" y="414329"/>
                </a:lnTo>
                <a:lnTo>
                  <a:pt x="2947621" y="414329"/>
                </a:lnTo>
                <a:lnTo>
                  <a:pt x="2961862" y="414329"/>
                </a:lnTo>
                <a:lnTo>
                  <a:pt x="2976101" y="414321"/>
                </a:lnTo>
                <a:lnTo>
                  <a:pt x="2990340" y="413945"/>
                </a:lnTo>
                <a:lnTo>
                  <a:pt x="3004580" y="411834"/>
                </a:lnTo>
                <a:lnTo>
                  <a:pt x="3018819" y="408086"/>
                </a:lnTo>
                <a:lnTo>
                  <a:pt x="3033060" y="405056"/>
                </a:lnTo>
                <a:lnTo>
                  <a:pt x="3047299" y="412083"/>
                </a:lnTo>
                <a:lnTo>
                  <a:pt x="3061538" y="414182"/>
                </a:lnTo>
                <a:lnTo>
                  <a:pt x="3075779" y="414264"/>
                </a:lnTo>
                <a:lnTo>
                  <a:pt x="3090018" y="414211"/>
                </a:lnTo>
                <a:lnTo>
                  <a:pt x="3104259" y="414088"/>
                </a:lnTo>
                <a:lnTo>
                  <a:pt x="3118498" y="413823"/>
                </a:lnTo>
                <a:lnTo>
                  <a:pt x="3132738" y="412839"/>
                </a:lnTo>
                <a:lnTo>
                  <a:pt x="3146977" y="410185"/>
                </a:lnTo>
                <a:lnTo>
                  <a:pt x="3161216" y="402405"/>
                </a:lnTo>
                <a:lnTo>
                  <a:pt x="3175457" y="390571"/>
                </a:lnTo>
                <a:lnTo>
                  <a:pt x="3189696" y="388619"/>
                </a:lnTo>
                <a:lnTo>
                  <a:pt x="3203937" y="396876"/>
                </a:lnTo>
                <a:lnTo>
                  <a:pt x="3218176" y="410033"/>
                </a:lnTo>
                <a:lnTo>
                  <a:pt x="3232415" y="413500"/>
                </a:lnTo>
                <a:lnTo>
                  <a:pt x="3246656" y="414117"/>
                </a:lnTo>
                <a:lnTo>
                  <a:pt x="3260894" y="414244"/>
                </a:lnTo>
                <a:lnTo>
                  <a:pt x="3275135" y="414121"/>
                </a:lnTo>
                <a:lnTo>
                  <a:pt x="3289374" y="414231"/>
                </a:lnTo>
                <a:lnTo>
                  <a:pt x="3303613" y="414048"/>
                </a:lnTo>
                <a:lnTo>
                  <a:pt x="3317854" y="413909"/>
                </a:lnTo>
                <a:lnTo>
                  <a:pt x="3332093" y="404659"/>
                </a:lnTo>
                <a:lnTo>
                  <a:pt x="3346334" y="396039"/>
                </a:lnTo>
                <a:lnTo>
                  <a:pt x="3360573" y="413549"/>
                </a:lnTo>
                <a:lnTo>
                  <a:pt x="3374812" y="414215"/>
                </a:lnTo>
                <a:lnTo>
                  <a:pt x="3389053" y="414301"/>
                </a:lnTo>
                <a:lnTo>
                  <a:pt x="3403291" y="414329"/>
                </a:lnTo>
                <a:lnTo>
                  <a:pt x="3417532" y="414329"/>
                </a:lnTo>
                <a:lnTo>
                  <a:pt x="3431771" y="414325"/>
                </a:lnTo>
                <a:lnTo>
                  <a:pt x="3446012" y="414264"/>
                </a:lnTo>
                <a:lnTo>
                  <a:pt x="3460251" y="413504"/>
                </a:lnTo>
                <a:lnTo>
                  <a:pt x="3474490" y="411969"/>
                </a:lnTo>
                <a:lnTo>
                  <a:pt x="3488731" y="411679"/>
                </a:lnTo>
                <a:lnTo>
                  <a:pt x="3502970" y="410638"/>
                </a:lnTo>
                <a:lnTo>
                  <a:pt x="3517211" y="411193"/>
                </a:lnTo>
                <a:lnTo>
                  <a:pt x="3531449" y="412765"/>
                </a:lnTo>
                <a:lnTo>
                  <a:pt x="3545688" y="413933"/>
                </a:lnTo>
                <a:lnTo>
                  <a:pt x="3559929" y="414203"/>
                </a:lnTo>
                <a:lnTo>
                  <a:pt x="3574168" y="414284"/>
                </a:lnTo>
                <a:lnTo>
                  <a:pt x="3588409" y="414260"/>
                </a:lnTo>
                <a:lnTo>
                  <a:pt x="3602648" y="413937"/>
                </a:lnTo>
                <a:lnTo>
                  <a:pt x="3616887" y="408322"/>
                </a:lnTo>
                <a:lnTo>
                  <a:pt x="3631128" y="377875"/>
                </a:lnTo>
                <a:lnTo>
                  <a:pt x="3645367" y="49072"/>
                </a:lnTo>
                <a:lnTo>
                  <a:pt x="3659608" y="13178"/>
                </a:lnTo>
                <a:lnTo>
                  <a:pt x="3673846" y="223052"/>
                </a:lnTo>
                <a:lnTo>
                  <a:pt x="3688087" y="340327"/>
                </a:lnTo>
                <a:lnTo>
                  <a:pt x="3702326" y="380452"/>
                </a:lnTo>
                <a:lnTo>
                  <a:pt x="3716565" y="400968"/>
                </a:lnTo>
                <a:lnTo>
                  <a:pt x="3730806" y="409690"/>
                </a:lnTo>
                <a:lnTo>
                  <a:pt x="3745045" y="411818"/>
                </a:lnTo>
                <a:lnTo>
                  <a:pt x="3759286" y="411900"/>
                </a:lnTo>
                <a:lnTo>
                  <a:pt x="3773525" y="409082"/>
                </a:lnTo>
                <a:lnTo>
                  <a:pt x="3787764" y="362623"/>
                </a:lnTo>
                <a:lnTo>
                  <a:pt x="3802004" y="181093"/>
                </a:lnTo>
                <a:lnTo>
                  <a:pt x="3816243" y="107561"/>
                </a:lnTo>
                <a:lnTo>
                  <a:pt x="3830484" y="149666"/>
                </a:lnTo>
                <a:lnTo>
                  <a:pt x="3844723" y="235948"/>
                </a:lnTo>
                <a:lnTo>
                  <a:pt x="3858962" y="318819"/>
                </a:lnTo>
                <a:lnTo>
                  <a:pt x="3873203" y="387464"/>
                </a:lnTo>
                <a:lnTo>
                  <a:pt x="3887442" y="407939"/>
                </a:lnTo>
                <a:lnTo>
                  <a:pt x="3901683" y="412361"/>
                </a:lnTo>
                <a:lnTo>
                  <a:pt x="3915922" y="413480"/>
                </a:lnTo>
                <a:lnTo>
                  <a:pt x="3930162" y="412435"/>
                </a:lnTo>
                <a:lnTo>
                  <a:pt x="3944401" y="403316"/>
                </a:lnTo>
                <a:lnTo>
                  <a:pt x="3958640" y="386867"/>
                </a:lnTo>
                <a:lnTo>
                  <a:pt x="3972881" y="311448"/>
                </a:lnTo>
                <a:lnTo>
                  <a:pt x="3987120" y="245536"/>
                </a:lnTo>
                <a:lnTo>
                  <a:pt x="4001361" y="370688"/>
                </a:lnTo>
                <a:lnTo>
                  <a:pt x="4015600" y="405521"/>
                </a:lnTo>
                <a:lnTo>
                  <a:pt x="4029839" y="410683"/>
                </a:lnTo>
                <a:lnTo>
                  <a:pt x="4044080" y="412471"/>
                </a:lnTo>
                <a:lnTo>
                  <a:pt x="4058318" y="413835"/>
                </a:lnTo>
                <a:lnTo>
                  <a:pt x="4072559" y="414215"/>
                </a:lnTo>
                <a:lnTo>
                  <a:pt x="4086798" y="414264"/>
                </a:lnTo>
                <a:lnTo>
                  <a:pt x="4101037" y="414231"/>
                </a:lnTo>
                <a:lnTo>
                  <a:pt x="4115278" y="414182"/>
                </a:lnTo>
                <a:lnTo>
                  <a:pt x="4129517" y="413741"/>
                </a:lnTo>
                <a:lnTo>
                  <a:pt x="4143758" y="413362"/>
                </a:lnTo>
                <a:lnTo>
                  <a:pt x="4157997" y="413406"/>
                </a:lnTo>
                <a:lnTo>
                  <a:pt x="4172238" y="413745"/>
                </a:lnTo>
                <a:lnTo>
                  <a:pt x="4186477" y="414170"/>
                </a:lnTo>
                <a:lnTo>
                  <a:pt x="4200715" y="414235"/>
                </a:lnTo>
                <a:lnTo>
                  <a:pt x="4214956" y="414276"/>
                </a:lnTo>
                <a:lnTo>
                  <a:pt x="4229195" y="414288"/>
                </a:lnTo>
                <a:lnTo>
                  <a:pt x="4243436" y="414293"/>
                </a:lnTo>
                <a:lnTo>
                  <a:pt x="4257675" y="414264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877E"/>
            </a:solidFill>
            <a:prstDash val="solid"/>
          </a:ln>
        </p:spPr>
      </p:sp>
      <p:sp>
        <p:nvSpPr>
          <p:cNvPr id="35" name="label-31">
            <a:extLst xmlns:a="http://schemas.openxmlformats.org/drawingml/2006/main">
              <a:ext uri="{FF2B5EF4-FFF2-40B4-BE49-F238E27FC236}">
                <a16:creationId xmlns:a16="http://schemas.microsoft.com/office/drawing/2014/main" id="{26C0E4E8-8054-4590-896C-C89E8E3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95675"/>
            <a:ext cx="7248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Post-processor: choose one</a:t>
            </a:r>
          </a:p>
        </p:txBody>
      </p:sp>
      <p:sp>
        <p:nvSpPr>
          <p:cNvPr id="36" name="processor-group-32">
            <a:extLst xmlns:a="http://schemas.openxmlformats.org/drawingml/2006/main">
              <a:ext uri="{FF2B5EF4-FFF2-40B4-BE49-F238E27FC236}">
                <a16:creationId xmlns:a16="http://schemas.microsoft.com/office/drawing/2014/main" id="{FEEA723D-2C9A-4AC2-904E-5C62412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76700"/>
            <a:ext cx="7172325" cy="2190750"/>
          </a:xfrm>
          <a:prstGeom xmlns:a="http://schemas.openxmlformats.org/drawingml/2006/main" prst="roundRect">
            <a:avLst>
              <a:gd name="adj" fmla="val 56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2860">
            <a:solidFill>
              <a:srgbClr val="A8B6C4"/>
            </a:solidFill>
            <a:prstDash val="dash"/>
          </a:ln>
        </p:spPr>
      </p:sp>
      <p:sp>
        <p:nvSpPr>
          <p:cNvPr id="37" name="processor-Direct-33">
            <a:extLst xmlns:a="http://schemas.openxmlformats.org/drawingml/2006/main">
              <a:ext uri="{FF2B5EF4-FFF2-40B4-BE49-F238E27FC236}">
                <a16:creationId xmlns:a16="http://schemas.microsoft.com/office/drawing/2014/main" id="{8BA18982-B500-4D75-B9A0-C1FD188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38" name="label-34">
            <a:extLst xmlns:a="http://schemas.openxmlformats.org/drawingml/2006/main">
              <a:ext uri="{FF2B5EF4-FFF2-40B4-BE49-F238E27FC236}">
                <a16:creationId xmlns:a16="http://schemas.microsoft.com/office/drawing/2014/main" id="{DAEB9EF2-92E3-4FD7-B26A-B7CA755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338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Direct</a:t>
            </a:r>
          </a:p>
        </p:txBody>
      </p:sp>
      <p:sp>
        <p:nvSpPr>
          <p:cNvPr id="39" name="label-35">
            <a:extLst xmlns:a="http://schemas.openxmlformats.org/drawingml/2006/main">
              <a:ext uri="{FF2B5EF4-FFF2-40B4-BE49-F238E27FC236}">
                <a16:creationId xmlns:a16="http://schemas.microsoft.com/office/drawing/2014/main" id="{99FCCDE6-B19B-4248-9DB1-FD848FA1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977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Peak-picking</a:t>
            </a:r>
          </a:p>
        </p:txBody>
      </p:sp>
      <p:sp>
        <p:nvSpPr>
          <p:cNvPr id="40" name="processor-CASM-36">
            <a:extLst xmlns:a="http://schemas.openxmlformats.org/drawingml/2006/main">
              <a:ext uri="{FF2B5EF4-FFF2-40B4-BE49-F238E27FC236}">
                <a16:creationId xmlns:a16="http://schemas.microsoft.com/office/drawing/2014/main" id="{83B9CF83-9D45-459D-9EDA-518A5A50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910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2385">
            <a:solidFill>
              <a:srgbClr val="00877E"/>
            </a:solidFill>
            <a:prstDash val="solid"/>
          </a:ln>
        </p:spPr>
      </p:sp>
      <p:sp>
        <p:nvSpPr>
          <p:cNvPr id="41" name="label-37">
            <a:extLst xmlns:a="http://schemas.openxmlformats.org/drawingml/2006/main">
              <a:ext uri="{FF2B5EF4-FFF2-40B4-BE49-F238E27FC236}">
                <a16:creationId xmlns:a16="http://schemas.microsoft.com/office/drawing/2014/main" id="{247AC4B4-22FB-4681-9BF1-F0D5BFC0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338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008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8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00877E"/>
                </a:solidFill>
                <a:latin typeface="Liberation Sans"/>
                <a:ea typeface="Liberation Sans"/>
                <a:cs typeface="Liberation Sans"/>
              </a:rPr>
              <a:t>CASM</a:t>
            </a:r>
          </a:p>
        </p:txBody>
      </p:sp>
      <p:sp>
        <p:nvSpPr>
          <p:cNvPr id="42" name="label-38">
            <a:extLst xmlns:a="http://schemas.openxmlformats.org/drawingml/2006/main">
              <a:ext uri="{FF2B5EF4-FFF2-40B4-BE49-F238E27FC236}">
                <a16:creationId xmlns:a16="http://schemas.microsoft.com/office/drawing/2014/main" id="{A669A9AE-B7A6-4BD2-BF5D-CB48DAA5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77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30–300 BPM</a:t>
            </a:r>
          </a:p>
        </p:txBody>
      </p:sp>
      <p:sp>
        <p:nvSpPr>
          <p:cNvPr id="43" name="processor-DBN55–215-39">
            <a:extLst xmlns:a="http://schemas.openxmlformats.org/drawingml/2006/main">
              <a:ext uri="{FF2B5EF4-FFF2-40B4-BE49-F238E27FC236}">
                <a16:creationId xmlns:a16="http://schemas.microsoft.com/office/drawing/2014/main" id="{2F82572B-BA1C-4196-94F6-A4B9361C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44" name="label-40">
            <a:extLst xmlns:a="http://schemas.openxmlformats.org/drawingml/2006/main">
              <a:ext uri="{FF2B5EF4-FFF2-40B4-BE49-F238E27FC236}">
                <a16:creationId xmlns:a16="http://schemas.microsoft.com/office/drawing/2014/main" id="{D8534BC9-2B9A-48FE-87F2-D0C5690C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338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DBN55–215</a:t>
            </a:r>
          </a:p>
        </p:txBody>
      </p:sp>
      <p:sp>
        <p:nvSpPr>
          <p:cNvPr id="45" name="label-41">
            <a:extLst xmlns:a="http://schemas.openxmlformats.org/drawingml/2006/main">
              <a:ext uri="{FF2B5EF4-FFF2-40B4-BE49-F238E27FC236}">
                <a16:creationId xmlns:a16="http://schemas.microsoft.com/office/drawing/2014/main" id="{909DE4F3-8826-4000-B2E1-ED02D576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977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55–215 BPM</a:t>
            </a:r>
          </a:p>
        </p:txBody>
      </p:sp>
      <p:sp>
        <p:nvSpPr>
          <p:cNvPr id="46" name="processor-DBN30–300-42">
            <a:extLst xmlns:a="http://schemas.openxmlformats.org/drawingml/2006/main">
              <a:ext uri="{FF2B5EF4-FFF2-40B4-BE49-F238E27FC236}">
                <a16:creationId xmlns:a16="http://schemas.microsoft.com/office/drawing/2014/main" id="{633BAF6E-346F-4178-8B1D-5B922B6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47" name="label-43">
            <a:extLst xmlns:a="http://schemas.openxmlformats.org/drawingml/2006/main">
              <a:ext uri="{FF2B5EF4-FFF2-40B4-BE49-F238E27FC236}">
                <a16:creationId xmlns:a16="http://schemas.microsoft.com/office/drawing/2014/main" id="{B8987499-06A7-49E4-B8BD-7BA31A06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DBN30–300</a:t>
            </a:r>
          </a:p>
        </p:txBody>
      </p:sp>
      <p:sp>
        <p:nvSpPr>
          <p:cNvPr id="48" name="label-44">
            <a:extLst xmlns:a="http://schemas.openxmlformats.org/drawingml/2006/main">
              <a:ext uri="{FF2B5EF4-FFF2-40B4-BE49-F238E27FC236}">
                <a16:creationId xmlns:a16="http://schemas.microsoft.com/office/drawing/2014/main" id="{EABF8DF4-907D-4A17-B77F-311B08C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7264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30–300 BPM</a:t>
            </a:r>
          </a:p>
        </p:txBody>
      </p:sp>
      <p:sp>
        <p:nvSpPr>
          <p:cNvPr id="49" name="processor-PLPDP-45">
            <a:extLst xmlns:a="http://schemas.openxmlformats.org/drawingml/2006/main">
              <a:ext uri="{FF2B5EF4-FFF2-40B4-BE49-F238E27FC236}">
                <a16:creationId xmlns:a16="http://schemas.microsoft.com/office/drawing/2014/main" id="{8E6C10EC-9CAD-46CB-86C8-4418197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197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DEE2E6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50" name="label-46">
            <a:extLst xmlns:a="http://schemas.openxmlformats.org/drawingml/2006/main">
              <a:ext uri="{FF2B5EF4-FFF2-40B4-BE49-F238E27FC236}">
                <a16:creationId xmlns:a16="http://schemas.microsoft.com/office/drawing/2014/main" id="{8404B33B-F7B3-4850-93D2-E38A64BE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3625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PLPDP</a:t>
            </a:r>
          </a:p>
        </p:txBody>
      </p:sp>
      <p:sp>
        <p:nvSpPr>
          <p:cNvPr id="51" name="label-47">
            <a:extLst xmlns:a="http://schemas.openxmlformats.org/drawingml/2006/main">
              <a:ext uri="{FF2B5EF4-FFF2-40B4-BE49-F238E27FC236}">
                <a16:creationId xmlns:a16="http://schemas.microsoft.com/office/drawing/2014/main" id="{18BDA256-D5DA-4DA9-9E99-FE619FB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264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30–300 BPM</a:t>
            </a:r>
          </a:p>
        </p:txBody>
      </p:sp>
      <p:sp>
        <p:nvSpPr>
          <p:cNvPr id="52" name="processor-CRF-48">
            <a:extLst xmlns:a="http://schemas.openxmlformats.org/drawingml/2006/main">
              <a:ext uri="{FF2B5EF4-FFF2-40B4-BE49-F238E27FC236}">
                <a16:creationId xmlns:a16="http://schemas.microsoft.com/office/drawing/2014/main" id="{1E751A12-F07F-4AB1-8038-8F216C9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19700"/>
            <a:ext cx="2238375" cy="904875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DEE2E6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53" name="label-49">
            <a:extLst xmlns:a="http://schemas.openxmlformats.org/drawingml/2006/main">
              <a:ext uri="{FF2B5EF4-FFF2-40B4-BE49-F238E27FC236}">
                <a16:creationId xmlns:a16="http://schemas.microsoft.com/office/drawing/2014/main" id="{DFB8A4A5-7C9F-4007-84CE-818BBAEB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362575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CRF</a:t>
            </a:r>
          </a:p>
        </p:txBody>
      </p:sp>
      <p:sp>
        <p:nvSpPr>
          <p:cNvPr id="54" name="label-50">
            <a:extLst xmlns:a="http://schemas.openxmlformats.org/drawingml/2006/main">
              <a:ext uri="{FF2B5EF4-FFF2-40B4-BE49-F238E27FC236}">
                <a16:creationId xmlns:a16="http://schemas.microsoft.com/office/drawing/2014/main" id="{3196A9BF-9B7B-448E-8DE5-A89DEF8E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72643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30–300 BPM</a:t>
            </a:r>
          </a:p>
        </p:txBody>
      </p:sp>
      <p:sp>
        <p:nvSpPr>
          <p:cNvPr id="55" name="output-51">
            <a:extLst xmlns:a="http://schemas.openxmlformats.org/drawingml/2006/main">
              <a:ext uri="{FF2B5EF4-FFF2-40B4-BE49-F238E27FC236}">
                <a16:creationId xmlns:a16="http://schemas.microsoft.com/office/drawing/2014/main" id="{98B48971-8A75-4BD3-8122-A4E783F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981450"/>
            <a:ext cx="3771900" cy="2400300"/>
          </a:xfrm>
          <a:prstGeom xmlns:a="http://schemas.openxmlformats.org/drawingml/2006/main" prst="roundRect">
            <a:avLst>
              <a:gd name="adj" fmla="val 51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8B6C4"/>
            </a:solidFill>
            <a:prstDash val="solid"/>
          </a:ln>
        </p:spPr>
      </p:sp>
      <p:sp>
        <p:nvSpPr>
          <p:cNvPr id="56" name="label-52">
            <a:extLst xmlns:a="http://schemas.openxmlformats.org/drawingml/2006/main">
              <a:ext uri="{FF2B5EF4-FFF2-40B4-BE49-F238E27FC236}">
                <a16:creationId xmlns:a16="http://schemas.microsoft.com/office/drawing/2014/main" id="{A299CC54-4801-406D-A1AC-749A919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642295"/>
            <a:ext cx="116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beat</a:t>
            </a:r>
          </a:p>
        </p:txBody>
      </p:sp>
      <p:sp>
        <p:nvSpPr>
          <p:cNvPr id="57" name="label-53">
            <a:extLst xmlns:a="http://schemas.openxmlformats.org/drawingml/2006/main">
              <a:ext uri="{FF2B5EF4-FFF2-40B4-BE49-F238E27FC236}">
                <a16:creationId xmlns:a16="http://schemas.microsoft.com/office/drawing/2014/main" id="{F110D6D6-2DD8-44DC-907C-B781076F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548313"/>
            <a:ext cx="116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3677E"/>
                </a:solidFill>
                <a:latin typeface="Liberation Sans"/>
                <a:ea typeface="Liberation Sans"/>
                <a:cs typeface="Liberation Sans"/>
              </a:rPr>
              <a:t>downbeat</a:t>
            </a:r>
          </a:p>
        </p:txBody>
      </p:sp>
      <p:sp>
        <p:nvSpPr>
          <p:cNvPr id="58" name="line-54">
            <a:extLst xmlns:a="http://schemas.openxmlformats.org/drawingml/2006/main">
              <a:ext uri="{FF2B5EF4-FFF2-40B4-BE49-F238E27FC236}">
                <a16:creationId xmlns:a16="http://schemas.microsoft.com/office/drawing/2014/main" id="{9A9A7636-1ABF-40F0-A0B0-1B4C9638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828032"/>
            <a:ext cx="2171700" cy="95"/>
          </a:xfrm>
          <a:custGeom xmlns:a="http://schemas.openxmlformats.org/drawingml/2006/main">
            <a:pathLst>
              <a:path w="2171700" h="95">
                <a:moveTo>
                  <a:pt x="0" y="0"/>
                </a:moveTo>
                <a:lnTo>
                  <a:pt x="2171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8B6C4"/>
            </a:solidFill>
            <a:prstDash val="solid"/>
          </a:ln>
        </p:spPr>
      </p:sp>
      <p:sp>
        <p:nvSpPr>
          <p:cNvPr id="59" name="line-55">
            <a:extLst xmlns:a="http://schemas.openxmlformats.org/drawingml/2006/main">
              <a:ext uri="{FF2B5EF4-FFF2-40B4-BE49-F238E27FC236}">
                <a16:creationId xmlns:a16="http://schemas.microsoft.com/office/drawing/2014/main" id="{51C05E68-4252-4C78-8884-A934574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734050"/>
            <a:ext cx="2171700" cy="95"/>
          </a:xfrm>
          <a:custGeom xmlns:a="http://schemas.openxmlformats.org/drawingml/2006/main">
            <a:pathLst>
              <a:path w="2171700" h="95">
                <a:moveTo>
                  <a:pt x="0" y="0"/>
                </a:moveTo>
                <a:lnTo>
                  <a:pt x="2171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8B6C4"/>
            </a:solidFill>
            <a:prstDash val="solid"/>
          </a:ln>
        </p:spPr>
      </p:sp>
      <p:sp>
        <p:nvSpPr>
          <p:cNvPr id="60" name="line-56">
            <a:extLst xmlns:a="http://schemas.openxmlformats.org/drawingml/2006/main">
              <a:ext uri="{FF2B5EF4-FFF2-40B4-BE49-F238E27FC236}">
                <a16:creationId xmlns:a16="http://schemas.microsoft.com/office/drawing/2014/main" id="{254F23EF-FE3B-4D62-B0E7-43340BC7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135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1" name="line-57">
            <a:extLst xmlns:a="http://schemas.openxmlformats.org/drawingml/2006/main">
              <a:ext uri="{FF2B5EF4-FFF2-40B4-BE49-F238E27FC236}">
                <a16:creationId xmlns:a16="http://schemas.microsoft.com/office/drawing/2014/main" id="{32D93935-C7F6-48E1-A823-0BC264E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149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2" name="line-58">
            <a:extLst xmlns:a="http://schemas.openxmlformats.org/drawingml/2006/main">
              <a:ext uri="{FF2B5EF4-FFF2-40B4-BE49-F238E27FC236}">
                <a16:creationId xmlns:a16="http://schemas.microsoft.com/office/drawing/2014/main" id="{97D698A4-4875-4D54-85B2-B4AF1176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1787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3" name="line-59">
            <a:extLst xmlns:a="http://schemas.openxmlformats.org/drawingml/2006/main">
              <a:ext uri="{FF2B5EF4-FFF2-40B4-BE49-F238E27FC236}">
                <a16:creationId xmlns:a16="http://schemas.microsoft.com/office/drawing/2014/main" id="{6CFBE290-8649-483D-8EE0-82C1B65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4050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4" name="line-60">
            <a:extLst xmlns:a="http://schemas.openxmlformats.org/drawingml/2006/main">
              <a:ext uri="{FF2B5EF4-FFF2-40B4-BE49-F238E27FC236}">
                <a16:creationId xmlns:a16="http://schemas.microsoft.com/office/drawing/2014/main" id="{D8BA60B4-F2FC-43E0-B202-C2288F46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313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5" name="line-61">
            <a:extLst xmlns:a="http://schemas.openxmlformats.org/drawingml/2006/main">
              <a:ext uri="{FF2B5EF4-FFF2-40B4-BE49-F238E27FC236}">
                <a16:creationId xmlns:a16="http://schemas.microsoft.com/office/drawing/2014/main" id="{56BA0564-6772-4F6A-BD89-9B568C5A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1201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6" name="line-62">
            <a:extLst xmlns:a="http://schemas.openxmlformats.org/drawingml/2006/main">
              <a:ext uri="{FF2B5EF4-FFF2-40B4-BE49-F238E27FC236}">
                <a16:creationId xmlns:a16="http://schemas.microsoft.com/office/drawing/2014/main" id="{D589A43D-38F9-4E01-BB9E-2465406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3463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7" name="line-63">
            <a:extLst xmlns:a="http://schemas.openxmlformats.org/drawingml/2006/main">
              <a:ext uri="{FF2B5EF4-FFF2-40B4-BE49-F238E27FC236}">
                <a16:creationId xmlns:a16="http://schemas.microsoft.com/office/drawing/2014/main" id="{7A1AD822-E23A-49F1-B397-3CEAA6BE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3599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8" name="line-64">
            <a:extLst xmlns:a="http://schemas.openxmlformats.org/drawingml/2006/main">
              <a:ext uri="{FF2B5EF4-FFF2-40B4-BE49-F238E27FC236}">
                <a16:creationId xmlns:a16="http://schemas.microsoft.com/office/drawing/2014/main" id="{B27763C2-39AC-42F1-8F86-987FE28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238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69" name="line-65">
            <a:extLst xmlns:a="http://schemas.openxmlformats.org/drawingml/2006/main">
              <a:ext uri="{FF2B5EF4-FFF2-40B4-BE49-F238E27FC236}">
                <a16:creationId xmlns:a16="http://schemas.microsoft.com/office/drawing/2014/main" id="{55BAA63A-9384-4676-AF9C-D71957F5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125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70" name="line-66">
            <a:extLst xmlns:a="http://schemas.openxmlformats.org/drawingml/2006/main">
              <a:ext uri="{FF2B5EF4-FFF2-40B4-BE49-F238E27FC236}">
                <a16:creationId xmlns:a16="http://schemas.microsoft.com/office/drawing/2014/main" id="{D9270E5C-FD30-45AA-B0B2-8A41BE7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7764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71" name="line-67">
            <a:extLst xmlns:a="http://schemas.openxmlformats.org/drawingml/2006/main">
              <a:ext uri="{FF2B5EF4-FFF2-40B4-BE49-F238E27FC236}">
                <a16:creationId xmlns:a16="http://schemas.microsoft.com/office/drawing/2014/main" id="{CC74EFE7-DC7D-4F5C-A2D9-9276136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27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72" name="line-68">
            <a:extLst xmlns:a="http://schemas.openxmlformats.org/drawingml/2006/main">
              <a:ext uri="{FF2B5EF4-FFF2-40B4-BE49-F238E27FC236}">
                <a16:creationId xmlns:a16="http://schemas.microsoft.com/office/drawing/2014/main" id="{CADCDDF4-CB7F-4832-BCDF-AAF4570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9665" y="4694682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32659A"/>
            </a:solidFill>
            <a:prstDash val="solid"/>
          </a:ln>
        </p:spPr>
      </p:sp>
      <p:sp>
        <p:nvSpPr>
          <p:cNvPr id="73" name="line-69">
            <a:extLst xmlns:a="http://schemas.openxmlformats.org/drawingml/2006/main">
              <a:ext uri="{FF2B5EF4-FFF2-40B4-BE49-F238E27FC236}">
                <a16:creationId xmlns:a16="http://schemas.microsoft.com/office/drawing/2014/main" id="{5CCDB22C-D32E-433C-9CAB-87A9176B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4050" y="5600700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0877E"/>
            </a:solidFill>
            <a:prstDash val="solid"/>
          </a:ln>
        </p:spPr>
      </p:sp>
      <p:sp>
        <p:nvSpPr>
          <p:cNvPr id="74" name="line-70">
            <a:extLst xmlns:a="http://schemas.openxmlformats.org/drawingml/2006/main">
              <a:ext uri="{FF2B5EF4-FFF2-40B4-BE49-F238E27FC236}">
                <a16:creationId xmlns:a16="http://schemas.microsoft.com/office/drawing/2014/main" id="{172FC298-AD13-4F9E-BAA8-F92E644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3599" y="5600700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0877E"/>
            </a:solidFill>
            <a:prstDash val="solid"/>
          </a:ln>
        </p:spPr>
      </p:sp>
      <p:sp>
        <p:nvSpPr>
          <p:cNvPr id="75" name="line-71">
            <a:extLst xmlns:a="http://schemas.openxmlformats.org/drawingml/2006/main">
              <a:ext uri="{FF2B5EF4-FFF2-40B4-BE49-F238E27FC236}">
                <a16:creationId xmlns:a16="http://schemas.microsoft.com/office/drawing/2014/main" id="{00E57589-0574-42BD-839E-12D1A69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27" y="5600700"/>
            <a:ext cx="95" cy="266700"/>
          </a:xfrm>
          <a:custGeom xmlns:a="http://schemas.openxmlformats.org/drawingml/2006/main"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0877E"/>
            </a:solidFill>
            <a:prstDash val="solid"/>
          </a:ln>
        </p:spPr>
      </p:sp>
      <p:sp>
        <p:nvSpPr>
          <p:cNvPr id="76" name="label-72">
            <a:extLst xmlns:a="http://schemas.openxmlformats.org/drawingml/2006/main">
              <a:ext uri="{FF2B5EF4-FFF2-40B4-BE49-F238E27FC236}">
                <a16:creationId xmlns:a16="http://schemas.microsoft.com/office/drawing/2014/main" id="{EAEEE5B3-5898-45BF-AD7F-DAC3D2A2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95675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03244"/>
                </a:solidFill>
                <a:latin typeface="Liberation Sans"/>
                <a:ea typeface="Liberation Sans"/>
                <a:cs typeface="Liberation Sans"/>
              </a:rPr>
              <a:t>Beat / downbeat events</a:t>
            </a:r>
          </a:p>
        </p:txBody>
      </p:sp>
      <p:sp>
        <p:nvSpPr>
          <p:cNvPr id="77" name="line-73">
            <a:extLst xmlns:a="http://schemas.openxmlformats.org/drawingml/2006/main">
              <a:ext uri="{FF2B5EF4-FFF2-40B4-BE49-F238E27FC236}">
                <a16:creationId xmlns:a16="http://schemas.microsoft.com/office/drawing/2014/main" id="{38659D81-0D00-41EA-BA27-63B52AF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78" name="line-74">
            <a:extLst xmlns:a="http://schemas.openxmlformats.org/drawingml/2006/main">
              <a:ext uri="{FF2B5EF4-FFF2-40B4-BE49-F238E27FC236}">
                <a16:creationId xmlns:a16="http://schemas.microsoft.com/office/drawing/2014/main" id="{84FDA936-A3C5-44E5-B033-9AB60505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05400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79" name="line-75">
            <a:extLst xmlns:a="http://schemas.openxmlformats.org/drawingml/2006/main">
              <a:ext uri="{FF2B5EF4-FFF2-40B4-BE49-F238E27FC236}">
                <a16:creationId xmlns:a16="http://schemas.microsoft.com/office/drawing/2014/main" id="{AE91DB86-148F-43AE-A19D-511EE11C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62550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80" name="line-76">
            <a:extLst xmlns:a="http://schemas.openxmlformats.org/drawingml/2006/main">
              <a:ext uri="{FF2B5EF4-FFF2-40B4-BE49-F238E27FC236}">
                <a16:creationId xmlns:a16="http://schemas.microsoft.com/office/drawing/2014/main" id="{78CA549D-5EAF-4DE2-A0E0-56254D6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162550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81" name="line-77">
            <a:extLst xmlns:a="http://schemas.openxmlformats.org/drawingml/2006/main">
              <a:ext uri="{FF2B5EF4-FFF2-40B4-BE49-F238E27FC236}">
                <a16:creationId xmlns:a16="http://schemas.microsoft.com/office/drawing/2014/main" id="{58890DDD-B993-4A48-959B-2F1B594C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105400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  <p:sp>
        <p:nvSpPr>
          <p:cNvPr id="82" name="line-78">
            <a:extLst xmlns:a="http://schemas.openxmlformats.org/drawingml/2006/main">
              <a:ext uri="{FF2B5EF4-FFF2-40B4-BE49-F238E27FC236}">
                <a16:creationId xmlns:a16="http://schemas.microsoft.com/office/drawing/2014/main" id="{9A10CCD3-D268-4CEF-AB1D-04CD20D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162550"/>
            <a:ext cx="104775" cy="57150"/>
          </a:xfrm>
          <a:custGeom xmlns:a="http://schemas.openxmlformats.org/drawingml/2006/main">
            <a:pathLst>
              <a:path w="104775" h="57150">
                <a:moveTo>
                  <a:pt x="10477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032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7962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2026-10-14T09:49:36.8210000Z</dcterms:created>
  <dcterms:modified xsi:type="dcterms:W3CDTF">2026-10-14T09:49:36.8210000Z</dcterms:modified>
</coreProperties>
</file>